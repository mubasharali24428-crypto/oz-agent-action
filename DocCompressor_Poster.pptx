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" y="109728"/>
            <a:ext cx="11731752" cy="676656"/>
          </a:xfrm>
          <a:prstGeom prst="rect">
            <a:avLst>
              <a:gd name="adj" fmla="val 9459"/>
            </a:avLst>
          </a:prstGeom>
          <a:solidFill>
            <a:srgbClr val="0A1E30"/>
          </a:solidFill>
          <a:ln w="19050">
            <a:solidFill>
              <a:srgbClr val="00C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18872"/>
            <a:ext cx="7132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D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DocCompressor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498080" y="118872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C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· Fast · Lossless  |  Multi-Format CLI Compression Tool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914400"/>
            <a:ext cx="3886200" cy="274320"/>
          </a:xfrm>
          <a:prstGeom prst="rect">
            <a:avLst>
              <a:gd name="adj" fmla="val 13333"/>
            </a:avLst>
          </a:prstGeom>
          <a:solidFill>
            <a:srgbClr val="8CA0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1752" y="914400"/>
            <a:ext cx="3739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Project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1188720"/>
            <a:ext cx="3886200" cy="1097280"/>
          </a:xfrm>
          <a:prstGeom prst="rect">
            <a:avLst>
              <a:gd name="adj" fmla="val 3333"/>
            </a:avLst>
          </a:prstGeom>
          <a:solidFill>
            <a:srgbClr val="0A1A2D"/>
          </a:solidFill>
          <a:ln w="12700">
            <a:solidFill>
              <a:srgbClr val="8CA0B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1207008"/>
            <a:ext cx="370332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DocCompressor is a terminal-based tool that compresses documents in Image, PDF and Text formats. It offers Simple and Aggressive modes, runs fully offline, and requires zero cloud dependency.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28600" y="2395728"/>
            <a:ext cx="3886200" cy="274320"/>
          </a:xfrm>
          <a:prstGeom prst="rect">
            <a:avLst>
              <a:gd name="adj" fmla="val 13333"/>
            </a:avLst>
          </a:prstGeom>
          <a:solidFill>
            <a:srgbClr val="00C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1752" y="2395728"/>
            <a:ext cx="3739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&amp; Logic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28600" y="2670048"/>
            <a:ext cx="3886200" cy="3977640"/>
          </a:xfrm>
          <a:prstGeom prst="rect">
            <a:avLst>
              <a:gd name="adj" fmla="val 941"/>
            </a:avLst>
          </a:prstGeom>
          <a:solidFill>
            <a:srgbClr val="061220"/>
          </a:solidFill>
          <a:ln w="12700">
            <a:solidFill>
              <a:srgbClr val="00C8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2715768"/>
            <a:ext cx="37033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83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Input Validation: Accepts .txt, .pdf, .jpg, .jpeg, .png, .bmp — all other formats rejected.</a:t>
            </a:r>
            <a:pPr algn="l" indent="0" marL="0">
              <a:spcBef>
                <a:spcPts val="600"/>
              </a:spcBef>
              <a:buNone/>
            </a:pPr>
            <a:r>
              <a:rPr lang="en-US" sz="83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Simple Mode: Standard zlib DEFLATE for text; baseline JPEG/PNG quality ≥ 70 for images.</a:t>
            </a:r>
            <a:pPr algn="l" indent="0" marL="0">
              <a:spcBef>
                <a:spcPts val="600"/>
              </a:spcBef>
              <a:buNone/>
            </a:pPr>
            <a:r>
              <a:rPr lang="en-US" sz="83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Aggressive Mode: Iteratively reduces quality in steps targeting ≥ 60 % size reduction while preserving readability.</a:t>
            </a:r>
            <a:pPr algn="l" indent="0" marL="0">
              <a:spcBef>
                <a:spcPts val="600"/>
              </a:spcBef>
              <a:buNone/>
            </a:pPr>
            <a:r>
              <a:rPr lang="en-US" sz="83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PDF Handling: Extracts embedded text &amp; images, compresses each component, re-packages into new PDF.</a:t>
            </a:r>
            <a:pPr algn="l" indent="0" marL="0">
              <a:spcBef>
                <a:spcPts val="600"/>
              </a:spcBef>
              <a:buNone/>
            </a:pPr>
            <a:r>
              <a:rPr lang="en-US" sz="83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Conflict Avoidance: Output files auto-suffixed _compressed to prevent overwriting originals.</a:t>
            </a:r>
            <a:pPr algn="l" indent="0" marL="0">
              <a:spcBef>
                <a:spcPts val="600"/>
              </a:spcBef>
              <a:buNone/>
            </a:pPr>
            <a:r>
              <a:rPr lang="en-US" sz="83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Size Reporting: Prints original size, compressed size, and compression ratio after every run.</a:t>
            </a:r>
            <a:pPr algn="l" indent="0" marL="0">
              <a:spcBef>
                <a:spcPts val="600"/>
              </a:spcBef>
              <a:buNone/>
            </a:pPr>
            <a:r>
              <a:rPr lang="en-US" sz="83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Error Handling: Catches corrupt files, permission errors, memory limits; logs descriptive messages without crashing.</a:t>
            </a:r>
            <a:pPr algn="l" indent="0" marL="0">
              <a:spcBef>
                <a:spcPts val="600"/>
              </a:spcBef>
              <a:buNone/>
            </a:pPr>
            <a:r>
              <a:rPr lang="en-US" sz="83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CLI Interface: Single command — doccompressor &lt;mode&gt; &lt;file&gt; — no GUI or internet required.</a:t>
            </a:r>
            <a:pPr algn="l" indent="0" marL="0">
              <a:spcBef>
                <a:spcPts val="600"/>
              </a:spcBef>
              <a:buNone/>
            </a:pPr>
            <a:r>
              <a:rPr lang="en-US" sz="83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Modular Pipeline: Each format handler (text / image / pdf) is an independent module for easy extensibility.</a:t>
            </a:r>
            <a:endParaRPr lang="en-US" sz="830" dirty="0"/>
          </a:p>
        </p:txBody>
      </p:sp>
      <p:sp>
        <p:nvSpPr>
          <p:cNvPr id="14" name="Shape 12"/>
          <p:cNvSpPr/>
          <p:nvPr/>
        </p:nvSpPr>
        <p:spPr>
          <a:xfrm>
            <a:off x="4325112" y="914400"/>
            <a:ext cx="7635240" cy="274320"/>
          </a:xfrm>
          <a:prstGeom prst="rect">
            <a:avLst>
              <a:gd name="adj" fmla="val 13333"/>
            </a:avLst>
          </a:prstGeom>
          <a:solidFill>
            <a:srgbClr val="1E9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16552" y="914400"/>
            <a:ext cx="7452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25112" y="1188720"/>
            <a:ext cx="7635240" cy="1417320"/>
          </a:xfrm>
          <a:prstGeom prst="rect">
            <a:avLst>
              <a:gd name="adj" fmla="val 2581"/>
            </a:avLst>
          </a:prstGeom>
          <a:solidFill>
            <a:srgbClr val="08162A"/>
          </a:solidFill>
          <a:ln w="12700">
            <a:solidFill>
              <a:srgbClr val="1E90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16552" y="1207008"/>
            <a:ext cx="7452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90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Reduce document file sizes to optimise local storage and network bandwidth.</a:t>
            </a:r>
            <a:pPr algn="l" indent="0" marL="0">
              <a:spcBef>
                <a:spcPts val="500"/>
              </a:spcBef>
              <a:buNone/>
            </a:pPr>
            <a:r>
              <a:rPr lang="en-US" sz="90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Support multi-format input: Images (JPG / PNG / BMP), PDF, and plain Text.</a:t>
            </a:r>
            <a:pPr algn="l" indent="0" marL="0">
              <a:spcBef>
                <a:spcPts val="500"/>
              </a:spcBef>
              <a:buNone/>
            </a:pPr>
            <a:r>
              <a:rPr lang="en-US" sz="90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Provide two compression levels — Simple &amp; Aggressive — selectable via a single CLI flag.</a:t>
            </a:r>
            <a:pPr algn="l" indent="0" marL="0">
              <a:spcBef>
                <a:spcPts val="500"/>
              </a:spcBef>
              <a:buNone/>
            </a:pPr>
            <a:r>
              <a:rPr lang="en-US" sz="90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Enable fully local, offline deployment with zero cloud or internet dependency.</a:t>
            </a:r>
            <a:pPr algn="l" indent="0" marL="0">
              <a:spcBef>
                <a:spcPts val="500"/>
              </a:spcBef>
              <a:buNone/>
            </a:pPr>
            <a:r>
              <a:rPr lang="en-US" sz="900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Deliver clear per-run metrics: file size before &amp; after, compression ratio, and time taken.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325112" y="2743200"/>
            <a:ext cx="7635240" cy="2926080"/>
          </a:xfrm>
          <a:prstGeom prst="rect">
            <a:avLst>
              <a:gd name="adj" fmla="val 2500"/>
            </a:avLst>
          </a:prstGeom>
          <a:solidFill>
            <a:srgbClr val="060F1A"/>
          </a:solidFill>
          <a:ln w="12700">
            <a:solidFill>
              <a:srgbClr val="1A355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5112" y="2743200"/>
            <a:ext cx="7635240" cy="256032"/>
          </a:xfrm>
          <a:prstGeom prst="rect">
            <a:avLst>
              <a:gd name="adj" fmla="val 14286"/>
            </a:avLst>
          </a:prstGeom>
          <a:solidFill>
            <a:srgbClr val="1024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62272" y="2743200"/>
            <a:ext cx="7360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C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DocCompressor  —  Compression Visualiser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62272" y="2852928"/>
            <a:ext cx="4754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5038344" y="285292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726680" y="2852928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9400032" y="2852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0451592" y="285292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416552" y="3054096"/>
            <a:ext cx="7452360" cy="13716"/>
          </a:xfrm>
          <a:prstGeom prst="rect">
            <a:avLst/>
          </a:prstGeom>
          <a:solidFill>
            <a:srgbClr val="1A35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62272" y="3227832"/>
            <a:ext cx="475488" cy="457200"/>
          </a:xfrm>
          <a:prstGeom prst="rect">
            <a:avLst>
              <a:gd name="adj" fmla="val 10000"/>
            </a:avLst>
          </a:prstGeom>
          <a:solidFill>
            <a:srgbClr val="1E3A6E"/>
          </a:solidFill>
          <a:ln w="19050">
            <a:solidFill>
              <a:srgbClr val="1E90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62272" y="3227832"/>
            <a:ext cx="475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038344" y="3182112"/>
            <a:ext cx="1737360" cy="566928"/>
          </a:xfrm>
          <a:prstGeom prst="rect">
            <a:avLst>
              <a:gd name="adj" fmla="val 8065"/>
            </a:avLst>
          </a:prstGeom>
          <a:solidFill>
            <a:srgbClr val="1E3A6E"/>
          </a:solidFill>
          <a:ln w="12700">
            <a:solidFill>
              <a:srgbClr val="1E90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111496" y="3264408"/>
            <a:ext cx="1245073" cy="54864"/>
          </a:xfrm>
          <a:prstGeom prst="rect">
            <a:avLst>
              <a:gd name="adj" fmla="val 33333"/>
            </a:avLst>
          </a:prstGeom>
          <a:solidFill>
            <a:srgbClr val="FFFFFF">
              <a:alpha val="2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11496" y="3369564"/>
            <a:ext cx="1315685" cy="54864"/>
          </a:xfrm>
          <a:prstGeom prst="rect">
            <a:avLst>
              <a:gd name="adj" fmla="val 33333"/>
            </a:avLst>
          </a:prstGeom>
          <a:solidFill>
            <a:srgbClr val="FFFFFF">
              <a:alpha val="2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111496" y="3474720"/>
            <a:ext cx="1457226" cy="54864"/>
          </a:xfrm>
          <a:prstGeom prst="rect">
            <a:avLst>
              <a:gd name="adj" fmla="val 33333"/>
            </a:avLst>
          </a:prstGeom>
          <a:solidFill>
            <a:srgbClr val="FFFFFF">
              <a:alpha val="2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11496" y="3579876"/>
            <a:ext cx="809244" cy="54864"/>
          </a:xfrm>
          <a:prstGeom prst="rect">
            <a:avLst>
              <a:gd name="adj" fmla="val 33333"/>
            </a:avLst>
          </a:prstGeom>
          <a:solidFill>
            <a:srgbClr val="FFFFFF">
              <a:alpha val="2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38344" y="3767328"/>
            <a:ext cx="173736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MB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5038344" y="3913632"/>
            <a:ext cx="1737360" cy="128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6A8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README.txt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6793992" y="3401568"/>
            <a:ext cx="457200" cy="73152"/>
          </a:xfrm>
          <a:prstGeom prst="rect">
            <a:avLst/>
          </a:prstGeom>
          <a:solidFill>
            <a:srgbClr val="FFD7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87184" y="3319272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D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766560" y="3236976"/>
            <a:ext cx="640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i="1" dirty="0">
                <a:solidFill>
                  <a:srgbClr val="FEB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</a:t>
            </a:r>
            <a:endParaRPr lang="en-US" sz="600" dirty="0"/>
          </a:p>
        </p:txBody>
      </p:sp>
      <p:sp>
        <p:nvSpPr>
          <p:cNvPr id="39" name="Shape 37"/>
          <p:cNvSpPr/>
          <p:nvPr/>
        </p:nvSpPr>
        <p:spPr>
          <a:xfrm>
            <a:off x="7726680" y="3302761"/>
            <a:ext cx="842620" cy="325629"/>
          </a:xfrm>
          <a:prstGeom prst="rect">
            <a:avLst>
              <a:gd name="adj" fmla="val 14041"/>
            </a:avLst>
          </a:prstGeom>
          <a:solidFill>
            <a:srgbClr val="0D2B50"/>
          </a:solidFill>
          <a:ln w="12700">
            <a:solidFill>
              <a:srgbClr val="1E90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781544" y="3357625"/>
            <a:ext cx="547703" cy="45720"/>
          </a:xfrm>
          <a:prstGeom prst="rect">
            <a:avLst>
              <a:gd name="adj" fmla="val 40000"/>
            </a:avLst>
          </a:prstGeom>
          <a:solidFill>
            <a:srgbClr val="FFFFFF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781544" y="3449065"/>
            <a:ext cx="547703" cy="45720"/>
          </a:xfrm>
          <a:prstGeom prst="rect">
            <a:avLst>
              <a:gd name="adj" fmla="val 40000"/>
            </a:avLst>
          </a:prstGeom>
          <a:solidFill>
            <a:srgbClr val="FFFFFF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26680" y="3767328"/>
            <a:ext cx="84262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8C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 MB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7726680" y="3913632"/>
            <a:ext cx="1208380" cy="128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6A8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README_compressed.txt</a:t>
            </a:r>
            <a:endParaRPr lang="en-US" sz="600" dirty="0"/>
          </a:p>
        </p:txBody>
      </p:sp>
      <p:sp>
        <p:nvSpPr>
          <p:cNvPr id="44" name="Shape 42"/>
          <p:cNvSpPr/>
          <p:nvPr/>
        </p:nvSpPr>
        <p:spPr>
          <a:xfrm>
            <a:off x="9509760" y="3200400"/>
            <a:ext cx="658368" cy="502920"/>
          </a:xfrm>
          <a:prstGeom prst="ellipse">
            <a:avLst/>
          </a:prstGeom>
          <a:solidFill>
            <a:srgbClr val="0D2B50"/>
          </a:solidFill>
          <a:ln w="19050">
            <a:solidFill>
              <a:srgbClr val="28C84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509760" y="3200400"/>
            <a:ext cx="6583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8C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-79%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9509760" y="3712464"/>
            <a:ext cx="658368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6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10451592" y="3392424"/>
            <a:ext cx="1325880" cy="164592"/>
          </a:xfrm>
          <a:prstGeom prst="rect">
            <a:avLst>
              <a:gd name="adj" fmla="val 22222"/>
            </a:avLst>
          </a:prstGeom>
          <a:solidFill>
            <a:srgbClr val="1A2D40"/>
          </a:solidFill>
          <a:ln w="6350">
            <a:solidFill>
              <a:srgbClr val="243D5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451592" y="3392424"/>
            <a:ext cx="1047445" cy="164592"/>
          </a:xfrm>
          <a:prstGeom prst="rect">
            <a:avLst>
              <a:gd name="adj" fmla="val 22222"/>
            </a:avLst>
          </a:prstGeom>
          <a:solidFill>
            <a:srgbClr val="1E90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451592" y="3392424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 compressed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10451592" y="3575304"/>
            <a:ext cx="274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6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11457432" y="3575304"/>
            <a:ext cx="3200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4462272" y="4069080"/>
            <a:ext cx="475488" cy="457200"/>
          </a:xfrm>
          <a:prstGeom prst="rect">
            <a:avLst>
              <a:gd name="adj" fmla="val 10000"/>
            </a:avLst>
          </a:prstGeom>
          <a:solidFill>
            <a:srgbClr val="5C1A1A"/>
          </a:solidFill>
          <a:ln w="19050">
            <a:solidFill>
              <a:srgbClr val="FF6B6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462272" y="4069080"/>
            <a:ext cx="475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5038344" y="4023360"/>
            <a:ext cx="1737360" cy="566928"/>
          </a:xfrm>
          <a:prstGeom prst="rect">
            <a:avLst>
              <a:gd name="adj" fmla="val 8065"/>
            </a:avLst>
          </a:prstGeom>
          <a:solidFill>
            <a:srgbClr val="5C1A1A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111496" y="4105656"/>
            <a:ext cx="1338404" cy="54864"/>
          </a:xfrm>
          <a:prstGeom prst="rect">
            <a:avLst>
              <a:gd name="adj" fmla="val 33333"/>
            </a:avLst>
          </a:prstGeom>
          <a:solidFill>
            <a:srgbClr val="FFFFFF">
              <a:alpha val="2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111496" y="4210812"/>
            <a:ext cx="1228244" cy="54864"/>
          </a:xfrm>
          <a:prstGeom prst="rect">
            <a:avLst>
              <a:gd name="adj" fmla="val 33333"/>
            </a:avLst>
          </a:prstGeom>
          <a:solidFill>
            <a:srgbClr val="FFFFFF">
              <a:alpha val="2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111496" y="4315968"/>
            <a:ext cx="1286701" cy="54864"/>
          </a:xfrm>
          <a:prstGeom prst="rect">
            <a:avLst>
              <a:gd name="adj" fmla="val 33333"/>
            </a:avLst>
          </a:prstGeom>
          <a:solidFill>
            <a:srgbClr val="FFFFFF">
              <a:alpha val="2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111496" y="4421124"/>
            <a:ext cx="809244" cy="54864"/>
          </a:xfrm>
          <a:prstGeom prst="rect">
            <a:avLst>
              <a:gd name="adj" fmla="val 33333"/>
            </a:avLst>
          </a:prstGeom>
          <a:solidFill>
            <a:srgbClr val="FFFFFF">
              <a:alpha val="2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38344" y="4608576"/>
            <a:ext cx="173736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 MB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5038344" y="4754880"/>
            <a:ext cx="1737360" cy="128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6A8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report.pdf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6793992" y="4242816"/>
            <a:ext cx="457200" cy="73152"/>
          </a:xfrm>
          <a:prstGeom prst="rect">
            <a:avLst/>
          </a:prstGeom>
          <a:solidFill>
            <a:srgbClr val="FFD7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87184" y="4160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D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6766560" y="4078224"/>
            <a:ext cx="640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i="1" dirty="0">
                <a:solidFill>
                  <a:srgbClr val="FEB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</a:t>
            </a:r>
            <a:endParaRPr lang="en-US" sz="600" dirty="0"/>
          </a:p>
        </p:txBody>
      </p:sp>
      <p:sp>
        <p:nvSpPr>
          <p:cNvPr id="64" name="Shape 62"/>
          <p:cNvSpPr/>
          <p:nvPr/>
        </p:nvSpPr>
        <p:spPr>
          <a:xfrm>
            <a:off x="7726680" y="4130574"/>
            <a:ext cx="936727" cy="352499"/>
          </a:xfrm>
          <a:prstGeom prst="rect">
            <a:avLst>
              <a:gd name="adj" fmla="val 12970"/>
            </a:avLst>
          </a:prstGeom>
          <a:solidFill>
            <a:srgbClr val="3A0F0F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781544" y="4185438"/>
            <a:ext cx="608872" cy="45720"/>
          </a:xfrm>
          <a:prstGeom prst="rect">
            <a:avLst>
              <a:gd name="adj" fmla="val 40000"/>
            </a:avLst>
          </a:prstGeom>
          <a:solidFill>
            <a:srgbClr val="FFFFFF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781544" y="4276878"/>
            <a:ext cx="608872" cy="45720"/>
          </a:xfrm>
          <a:prstGeom prst="rect">
            <a:avLst>
              <a:gd name="adj" fmla="val 40000"/>
            </a:avLst>
          </a:prstGeom>
          <a:solidFill>
            <a:srgbClr val="FFFFFF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726680" y="4608576"/>
            <a:ext cx="936727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8C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1.67 MB</a:t>
            </a:r>
            <a:endParaRPr lang="en-US" sz="750" dirty="0"/>
          </a:p>
        </p:txBody>
      </p:sp>
      <p:sp>
        <p:nvSpPr>
          <p:cNvPr id="68" name="Text 66"/>
          <p:cNvSpPr/>
          <p:nvPr/>
        </p:nvSpPr>
        <p:spPr>
          <a:xfrm>
            <a:off x="7726680" y="4754880"/>
            <a:ext cx="1302487" cy="128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6A8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report_compressed.pdf</a:t>
            </a:r>
            <a:endParaRPr lang="en-US" sz="600" dirty="0"/>
          </a:p>
        </p:txBody>
      </p:sp>
      <p:sp>
        <p:nvSpPr>
          <p:cNvPr id="69" name="Shape 67"/>
          <p:cNvSpPr/>
          <p:nvPr/>
        </p:nvSpPr>
        <p:spPr>
          <a:xfrm>
            <a:off x="9509760" y="4041648"/>
            <a:ext cx="658368" cy="502920"/>
          </a:xfrm>
          <a:prstGeom prst="ellipse">
            <a:avLst/>
          </a:prstGeom>
          <a:solidFill>
            <a:srgbClr val="3A0F0F"/>
          </a:solidFill>
          <a:ln w="19050">
            <a:solidFill>
              <a:srgbClr val="28C84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509760" y="4041648"/>
            <a:ext cx="6583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8C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-65%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9509760" y="4553712"/>
            <a:ext cx="658368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6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10451592" y="4233672"/>
            <a:ext cx="1325880" cy="164592"/>
          </a:xfrm>
          <a:prstGeom prst="rect">
            <a:avLst>
              <a:gd name="adj" fmla="val 22222"/>
            </a:avLst>
          </a:prstGeom>
          <a:solidFill>
            <a:srgbClr val="1A2D40"/>
          </a:solidFill>
          <a:ln w="6350">
            <a:solidFill>
              <a:srgbClr val="243D55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451592" y="4233672"/>
            <a:ext cx="861822" cy="164592"/>
          </a:xfrm>
          <a:prstGeom prst="rect">
            <a:avLst>
              <a:gd name="adj" fmla="val 22222"/>
            </a:avLst>
          </a:prstGeom>
          <a:solidFill>
            <a:srgbClr val="FF6B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451592" y="4233672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 compressed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10451592" y="4416552"/>
            <a:ext cx="274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6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650" dirty="0"/>
          </a:p>
        </p:txBody>
      </p:sp>
      <p:sp>
        <p:nvSpPr>
          <p:cNvPr id="76" name="Text 74"/>
          <p:cNvSpPr/>
          <p:nvPr/>
        </p:nvSpPr>
        <p:spPr>
          <a:xfrm>
            <a:off x="11457432" y="4416552"/>
            <a:ext cx="3200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50" dirty="0"/>
          </a:p>
        </p:txBody>
      </p:sp>
      <p:sp>
        <p:nvSpPr>
          <p:cNvPr id="77" name="Shape 75"/>
          <p:cNvSpPr/>
          <p:nvPr/>
        </p:nvSpPr>
        <p:spPr>
          <a:xfrm>
            <a:off x="4462272" y="4910328"/>
            <a:ext cx="475488" cy="457200"/>
          </a:xfrm>
          <a:prstGeom prst="rect">
            <a:avLst>
              <a:gd name="adj" fmla="val 10000"/>
            </a:avLst>
          </a:prstGeom>
          <a:solidFill>
            <a:srgbClr val="0A3D2E"/>
          </a:solidFill>
          <a:ln w="19050">
            <a:solidFill>
              <a:srgbClr val="00C8A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462272" y="4910328"/>
            <a:ext cx="475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C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IMG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5038344" y="4864608"/>
            <a:ext cx="1737360" cy="566928"/>
          </a:xfrm>
          <a:prstGeom prst="rect">
            <a:avLst>
              <a:gd name="adj" fmla="val 8065"/>
            </a:avLst>
          </a:prstGeom>
          <a:solidFill>
            <a:srgbClr val="0A3D2E"/>
          </a:solidFill>
          <a:ln w="12700">
            <a:solidFill>
              <a:srgbClr val="00C8A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5111496" y="4946904"/>
            <a:ext cx="1349706" cy="54864"/>
          </a:xfrm>
          <a:prstGeom prst="rect">
            <a:avLst>
              <a:gd name="adj" fmla="val 33333"/>
            </a:avLst>
          </a:prstGeom>
          <a:solidFill>
            <a:srgbClr val="FFFFFF">
              <a:alpha val="2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111496" y="5052060"/>
            <a:ext cx="1318019" cy="54864"/>
          </a:xfrm>
          <a:prstGeom prst="rect">
            <a:avLst>
              <a:gd name="adj" fmla="val 33333"/>
            </a:avLst>
          </a:prstGeom>
          <a:solidFill>
            <a:srgbClr val="FFFFFF">
              <a:alpha val="2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111496" y="5157216"/>
            <a:ext cx="1321603" cy="54864"/>
          </a:xfrm>
          <a:prstGeom prst="rect">
            <a:avLst>
              <a:gd name="adj" fmla="val 33333"/>
            </a:avLst>
          </a:prstGeom>
          <a:solidFill>
            <a:srgbClr val="FFFFFF">
              <a:alpha val="2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111496" y="5262372"/>
            <a:ext cx="809244" cy="54864"/>
          </a:xfrm>
          <a:prstGeom prst="rect">
            <a:avLst>
              <a:gd name="adj" fmla="val 33333"/>
            </a:avLst>
          </a:prstGeom>
          <a:solidFill>
            <a:srgbClr val="FFFFFF">
              <a:alpha val="2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38344" y="5449824"/>
            <a:ext cx="173736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8D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MB</a:t>
            </a:r>
            <a:endParaRPr lang="en-US" sz="750" dirty="0"/>
          </a:p>
        </p:txBody>
      </p:sp>
      <p:sp>
        <p:nvSpPr>
          <p:cNvPr id="85" name="Text 83"/>
          <p:cNvSpPr/>
          <p:nvPr/>
        </p:nvSpPr>
        <p:spPr>
          <a:xfrm>
            <a:off x="5038344" y="5596128"/>
            <a:ext cx="1737360" cy="128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6A8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photo.png</a:t>
            </a:r>
            <a:endParaRPr lang="en-US" sz="650" dirty="0"/>
          </a:p>
        </p:txBody>
      </p:sp>
      <p:sp>
        <p:nvSpPr>
          <p:cNvPr id="86" name="Shape 84"/>
          <p:cNvSpPr/>
          <p:nvPr/>
        </p:nvSpPr>
        <p:spPr>
          <a:xfrm>
            <a:off x="6793992" y="5084064"/>
            <a:ext cx="457200" cy="73152"/>
          </a:xfrm>
          <a:prstGeom prst="rect">
            <a:avLst/>
          </a:prstGeom>
          <a:solidFill>
            <a:srgbClr val="FFD7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187184" y="5001768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D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88" name="Text 86"/>
          <p:cNvSpPr/>
          <p:nvPr/>
        </p:nvSpPr>
        <p:spPr>
          <a:xfrm>
            <a:off x="6766560" y="4919472"/>
            <a:ext cx="640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i="1" dirty="0">
                <a:solidFill>
                  <a:srgbClr val="FEB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</a:t>
            </a:r>
            <a:endParaRPr lang="en-US" sz="600" dirty="0"/>
          </a:p>
        </p:txBody>
      </p:sp>
      <p:sp>
        <p:nvSpPr>
          <p:cNvPr id="89" name="Shape 87"/>
          <p:cNvSpPr/>
          <p:nvPr/>
        </p:nvSpPr>
        <p:spPr>
          <a:xfrm>
            <a:off x="7726680" y="4984017"/>
            <a:ext cx="851306" cy="328110"/>
          </a:xfrm>
          <a:prstGeom prst="rect">
            <a:avLst>
              <a:gd name="adj" fmla="val 13934"/>
            </a:avLst>
          </a:prstGeom>
          <a:solidFill>
            <a:srgbClr val="062820"/>
          </a:solidFill>
          <a:ln w="12700">
            <a:solidFill>
              <a:srgbClr val="00C8A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7781544" y="5038881"/>
            <a:ext cx="553349" cy="45720"/>
          </a:xfrm>
          <a:prstGeom prst="rect">
            <a:avLst>
              <a:gd name="adj" fmla="val 40000"/>
            </a:avLst>
          </a:prstGeom>
          <a:solidFill>
            <a:srgbClr val="FFFFFF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781544" y="5130321"/>
            <a:ext cx="553349" cy="45720"/>
          </a:xfrm>
          <a:prstGeom prst="rect">
            <a:avLst>
              <a:gd name="adj" fmla="val 40000"/>
            </a:avLst>
          </a:prstGeom>
          <a:solidFill>
            <a:srgbClr val="FFFFFF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726680" y="5449824"/>
            <a:ext cx="851306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8C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 MB</a:t>
            </a:r>
            <a:endParaRPr lang="en-US" sz="750" dirty="0"/>
          </a:p>
        </p:txBody>
      </p:sp>
      <p:sp>
        <p:nvSpPr>
          <p:cNvPr id="93" name="Text 91"/>
          <p:cNvSpPr/>
          <p:nvPr/>
        </p:nvSpPr>
        <p:spPr>
          <a:xfrm>
            <a:off x="7726680" y="5596128"/>
            <a:ext cx="1217066" cy="128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6A8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photo_compressed.png</a:t>
            </a:r>
            <a:endParaRPr lang="en-US" sz="600" dirty="0"/>
          </a:p>
        </p:txBody>
      </p:sp>
      <p:sp>
        <p:nvSpPr>
          <p:cNvPr id="94" name="Shape 92"/>
          <p:cNvSpPr/>
          <p:nvPr/>
        </p:nvSpPr>
        <p:spPr>
          <a:xfrm>
            <a:off x="9509760" y="4882896"/>
            <a:ext cx="658368" cy="502920"/>
          </a:xfrm>
          <a:prstGeom prst="ellipse">
            <a:avLst/>
          </a:prstGeom>
          <a:solidFill>
            <a:srgbClr val="062820"/>
          </a:solidFill>
          <a:ln w="19050">
            <a:solidFill>
              <a:srgbClr val="28C84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509760" y="4882896"/>
            <a:ext cx="6583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8C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-77%</a:t>
            </a:r>
            <a:endParaRPr lang="en-US" sz="1300" dirty="0"/>
          </a:p>
        </p:txBody>
      </p:sp>
      <p:sp>
        <p:nvSpPr>
          <p:cNvPr id="96" name="Text 94"/>
          <p:cNvSpPr/>
          <p:nvPr/>
        </p:nvSpPr>
        <p:spPr>
          <a:xfrm>
            <a:off x="9509760" y="5394960"/>
            <a:ext cx="658368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6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10451592" y="5074920"/>
            <a:ext cx="1325880" cy="164592"/>
          </a:xfrm>
          <a:prstGeom prst="rect">
            <a:avLst>
              <a:gd name="adj" fmla="val 22222"/>
            </a:avLst>
          </a:prstGeom>
          <a:solidFill>
            <a:srgbClr val="1A2D40"/>
          </a:solidFill>
          <a:ln w="6350">
            <a:solidFill>
              <a:srgbClr val="243D55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10451592" y="5074920"/>
            <a:ext cx="1020928" cy="164592"/>
          </a:xfrm>
          <a:prstGeom prst="rect">
            <a:avLst>
              <a:gd name="adj" fmla="val 22222"/>
            </a:avLst>
          </a:prstGeom>
          <a:solidFill>
            <a:srgbClr val="00C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0451592" y="5074920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 compressed</a:t>
            </a:r>
            <a:endParaRPr lang="en-US" sz="700" dirty="0"/>
          </a:p>
        </p:txBody>
      </p:sp>
      <p:sp>
        <p:nvSpPr>
          <p:cNvPr id="100" name="Text 98"/>
          <p:cNvSpPr/>
          <p:nvPr/>
        </p:nvSpPr>
        <p:spPr>
          <a:xfrm>
            <a:off x="10451592" y="5257800"/>
            <a:ext cx="274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6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650" dirty="0"/>
          </a:p>
        </p:txBody>
      </p:sp>
      <p:sp>
        <p:nvSpPr>
          <p:cNvPr id="101" name="Text 99"/>
          <p:cNvSpPr/>
          <p:nvPr/>
        </p:nvSpPr>
        <p:spPr>
          <a:xfrm>
            <a:off x="11457432" y="5257800"/>
            <a:ext cx="3200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50" dirty="0"/>
          </a:p>
        </p:txBody>
      </p:sp>
      <p:sp>
        <p:nvSpPr>
          <p:cNvPr id="102" name="Shape 100"/>
          <p:cNvSpPr/>
          <p:nvPr/>
        </p:nvSpPr>
        <p:spPr>
          <a:xfrm>
            <a:off x="4325112" y="5760720"/>
            <a:ext cx="7635240" cy="868680"/>
          </a:xfrm>
          <a:prstGeom prst="rect">
            <a:avLst>
              <a:gd name="adj" fmla="val 6316"/>
            </a:avLst>
          </a:prstGeom>
          <a:solidFill>
            <a:srgbClr val="07121E"/>
          </a:solidFill>
          <a:ln w="19050">
            <a:solidFill>
              <a:srgbClr val="1E90FF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4379976" y="5852160"/>
            <a:ext cx="2435352" cy="658368"/>
          </a:xfrm>
          <a:prstGeom prst="rect">
            <a:avLst>
              <a:gd name="adj" fmla="val 8333"/>
            </a:avLst>
          </a:prstGeom>
          <a:solidFill>
            <a:srgbClr val="0D1D2E"/>
          </a:solidFill>
          <a:ln w="12700">
            <a:solidFill>
              <a:srgbClr val="00C8A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4434840" y="5888736"/>
            <a:ext cx="23256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C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</a:t>
            </a:r>
            <a:endParaRPr lang="en-US" sz="750" dirty="0"/>
          </a:p>
        </p:txBody>
      </p:sp>
      <p:sp>
        <p:nvSpPr>
          <p:cNvPr id="105" name="Text 103"/>
          <p:cNvSpPr/>
          <p:nvPr/>
        </p:nvSpPr>
        <p:spPr>
          <a:xfrm>
            <a:off x="4434840" y="6108192"/>
            <a:ext cx="2325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</a:t>
            </a:r>
            <a:endParaRPr lang="en-US" sz="1100" dirty="0"/>
          </a:p>
        </p:txBody>
      </p:sp>
      <p:sp>
        <p:nvSpPr>
          <p:cNvPr id="106" name="Shape 104"/>
          <p:cNvSpPr/>
          <p:nvPr/>
        </p:nvSpPr>
        <p:spPr>
          <a:xfrm>
            <a:off x="6925056" y="5852160"/>
            <a:ext cx="2435352" cy="658368"/>
          </a:xfrm>
          <a:prstGeom prst="rect">
            <a:avLst>
              <a:gd name="adj" fmla="val 8333"/>
            </a:avLst>
          </a:prstGeom>
          <a:solidFill>
            <a:srgbClr val="0D1D2E"/>
          </a:solidFill>
          <a:ln w="12700">
            <a:solidFill>
              <a:srgbClr val="1E90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979920" y="5888736"/>
            <a:ext cx="23256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6979920" y="6108192"/>
            <a:ext cx="2325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Eisha Nawaz</a:t>
            </a:r>
            <a:endParaRPr lang="en-US" sz="1100" dirty="0"/>
          </a:p>
        </p:txBody>
      </p:sp>
      <p:sp>
        <p:nvSpPr>
          <p:cNvPr id="109" name="Shape 107"/>
          <p:cNvSpPr/>
          <p:nvPr/>
        </p:nvSpPr>
        <p:spPr>
          <a:xfrm>
            <a:off x="9470136" y="5852160"/>
            <a:ext cx="2435352" cy="658368"/>
          </a:xfrm>
          <a:prstGeom prst="rect">
            <a:avLst>
              <a:gd name="adj" fmla="val 8333"/>
            </a:avLst>
          </a:prstGeom>
          <a:solidFill>
            <a:srgbClr val="0D1D2E"/>
          </a:solidFill>
          <a:ln w="12700">
            <a:solidFill>
              <a:srgbClr val="8CA0B4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9525000" y="5888736"/>
            <a:ext cx="23256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C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</a:t>
            </a:r>
            <a:endParaRPr lang="en-US" sz="750" dirty="0"/>
          </a:p>
        </p:txBody>
      </p:sp>
      <p:sp>
        <p:nvSpPr>
          <p:cNvPr id="111" name="Text 109"/>
          <p:cNvSpPr/>
          <p:nvPr/>
        </p:nvSpPr>
        <p:spPr>
          <a:xfrm>
            <a:off x="9525000" y="6108192"/>
            <a:ext cx="23256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Robotics and AI</a:t>
            </a:r>
            <a:endParaRPr lang="en-US" sz="1100" dirty="0"/>
          </a:p>
        </p:txBody>
      </p:sp>
      <p:sp>
        <p:nvSpPr>
          <p:cNvPr id="112" name="Shape 110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C8A0"/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2026-03-03T15:39:39Z</dcterms:created>
  <dcterms:modified xsi:type="dcterms:W3CDTF">2026-03-03T15:39:39Z</dcterms:modified>
</cp:coreProperties>
</file>