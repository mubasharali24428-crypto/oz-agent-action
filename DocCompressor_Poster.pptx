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5784" cy="428030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5784" cy="42803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75784" cy="53035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93792"/>
            <a:ext cx="30275784" cy="109728"/>
          </a:xfrm>
          <a:prstGeom prst="rect">
            <a:avLst/>
          </a:prstGeom>
          <a:solidFill>
            <a:srgbClr val="FFC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0"/>
            <a:ext cx="30275784" cy="73152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29269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0" b="1" i="0">
                <a:solidFill>
                  <a:srgbClr val="FFFFFF"/>
                </a:solidFill>
                <a:latin typeface="Calibri"/>
              </a:rPr>
              <a:t>DocCompressor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2926994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1">
                <a:solidFill>
                  <a:srgbClr val="BBDEFB"/>
                </a:solidFill>
                <a:latin typeface="Calibri"/>
              </a:rPr>
              <a:t>Smart  ·  Fast  ·  Lossless   |   Multi-Format CLI Compression Tool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971800"/>
            <a:ext cx="29269944" cy="4572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090672"/>
            <a:ext cx="97566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BBDEFB"/>
                </a:solidFill>
                <a:latin typeface="Calibri"/>
              </a:rPr>
              <a:t>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97566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Calibri"/>
              </a:rPr>
              <a:t>Programming Fundamentals (PF)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9568" y="3090672"/>
            <a:ext cx="97566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BBDEFB"/>
                </a:solidFill>
                <a:latin typeface="Calibri"/>
              </a:rPr>
              <a:t>INSTRUCTOR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9568" y="3566160"/>
            <a:ext cx="97566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Calibri"/>
              </a:rPr>
              <a:t>Ms Eisha Nawaz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16216" y="3090672"/>
            <a:ext cx="97566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BBDEFB"/>
                </a:solidFill>
                <a:latin typeface="Calibri"/>
              </a:rPr>
              <a:t>DEPARTMENT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016216" y="3566160"/>
            <a:ext cx="97566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Calibri"/>
              </a:rPr>
              <a:t>BS Robotics &amp; Artificial Intelligence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45852" y="3044952"/>
            <a:ext cx="27432" cy="123444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002500" y="3044952"/>
            <a:ext cx="27432" cy="123444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5303520"/>
            <a:ext cx="30275784" cy="29260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8156448"/>
            <a:ext cx="30275784" cy="7315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5504688"/>
            <a:ext cx="6951726" cy="2523744"/>
          </a:xfrm>
          <a:prstGeom prst="rect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596128"/>
            <a:ext cx="695172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0D47A1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766560"/>
            <a:ext cx="695172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565C0"/>
                </a:solidFill>
                <a:latin typeface="Calibri"/>
              </a:rPr>
              <a:t>Supported Formats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7333488"/>
            <a:ext cx="695172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0" i="1">
                <a:solidFill>
                  <a:srgbClr val="757575"/>
                </a:solidFill>
                <a:latin typeface="Calibri"/>
              </a:rPr>
              <a:t>TXT · PDF · IMG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3286" y="5504688"/>
            <a:ext cx="6951726" cy="2523744"/>
          </a:xfrm>
          <a:prstGeom prst="rect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3286" y="5596128"/>
            <a:ext cx="695172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0D47A1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3286" y="6766560"/>
            <a:ext cx="695172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565C0"/>
                </a:solidFill>
                <a:latin typeface="Calibri"/>
              </a:rPr>
              <a:t>Compression Modes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3286" y="7333488"/>
            <a:ext cx="695172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0" i="1">
                <a:solidFill>
                  <a:srgbClr val="757575"/>
                </a:solidFill>
                <a:latin typeface="Calibri"/>
              </a:rPr>
              <a:t>Simple · Aggressive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320772" y="5504688"/>
            <a:ext cx="6951726" cy="2523744"/>
          </a:xfrm>
          <a:prstGeom prst="rect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320772" y="5596128"/>
            <a:ext cx="695172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0D47A1"/>
                </a:solidFill>
                <a:latin typeface="Calibri"/>
              </a:rPr>
              <a:t>79%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20772" y="6766560"/>
            <a:ext cx="695172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565C0"/>
                </a:solidFill>
                <a:latin typeface="Calibri"/>
              </a:rPr>
              <a:t>Max Compression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20772" y="7333488"/>
            <a:ext cx="695172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0" i="1">
                <a:solidFill>
                  <a:srgbClr val="757575"/>
                </a:solidFill>
                <a:latin typeface="Calibri"/>
              </a:rPr>
              <a:t>Text files (Brotli-11)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638258" y="5504688"/>
            <a:ext cx="6951726" cy="2523744"/>
          </a:xfrm>
          <a:prstGeom prst="rect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638258" y="5596128"/>
            <a:ext cx="695172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0D47A1"/>
                </a:solidFill>
                <a:latin typeface="Calibri"/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638258" y="6766560"/>
            <a:ext cx="695172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565C0"/>
                </a:solidFill>
                <a:latin typeface="Calibri"/>
              </a:rPr>
              <a:t>Offline Operation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638258" y="7333488"/>
            <a:ext cx="695172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0" i="1">
                <a:solidFill>
                  <a:srgbClr val="757575"/>
                </a:solidFill>
                <a:latin typeface="Calibri"/>
              </a:rPr>
              <a:t>No API keys required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" y="8769096"/>
            <a:ext cx="14442948" cy="71323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8686800"/>
            <a:ext cx="14442948" cy="7132320"/>
          </a:xfrm>
          <a:prstGeom prst="rect">
            <a:avLst/>
          </a:prstGeom>
          <a:solidFill>
            <a:srgbClr val="FFFFFF"/>
          </a:solidFill>
          <a:ln w="317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8686800"/>
            <a:ext cx="14442948" cy="7772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9464040"/>
            <a:ext cx="91440" cy="635508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" y="8759952"/>
            <a:ext cx="14122908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About the Project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" y="9573768"/>
            <a:ext cx="13958316" cy="6153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0" i="0">
                <a:solidFill>
                  <a:srgbClr val="1A1A2E"/>
                </a:solidFill>
                <a:latin typeface="Calibri"/>
              </a:rPr>
              <a:t>DocCompressor is a terminal-based compression utility that handles three major document formats: plain text (TXT), portable documents (PDF) and raster images (JPG / PNG / BMP).
▸  Simple Mode — Standard zlib DEFLATE for text, baseline JPEG re-encoding for images and structure-preserving compression for PDFs.
▸  Aggressive Mode — Brotli level-11 / zopfli pipeline for maximum ratio; PIL progressive save with palette quantisation for images.
The tool runs fully offline, requires no external API keys and produces byte-for-byte reproducible output across Windows, Ubuntu and macOS.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" y="16285464"/>
            <a:ext cx="14442948" cy="56692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16203168"/>
            <a:ext cx="14442948" cy="5669280"/>
          </a:xfrm>
          <a:prstGeom prst="rect">
            <a:avLst/>
          </a:prstGeom>
          <a:solidFill>
            <a:srgbClr val="FFFFFF"/>
          </a:solidFill>
          <a:ln w="317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16203168"/>
            <a:ext cx="14442948" cy="7772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16980408"/>
            <a:ext cx="91440" cy="489204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" y="16276320"/>
            <a:ext cx="14122908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8952" y="17090136"/>
            <a:ext cx="6883146" cy="1280160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17181576"/>
            <a:ext cx="67002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D47A1"/>
                </a:solidFill>
                <a:latin typeface="Calibri"/>
              </a:rPr>
              <a:t>Language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17620488"/>
            <a:ext cx="670026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0" i="0">
                <a:solidFill>
                  <a:srgbClr val="1A1A2E"/>
                </a:solidFill>
                <a:latin typeface="Calibri"/>
              </a:rPr>
              <a:t>Python 3.10+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8952" y="18507456"/>
            <a:ext cx="6883146" cy="1280160"/>
          </a:xfrm>
          <a:prstGeom prst="rect">
            <a:avLst/>
          </a:prstGeom>
          <a:solidFill>
            <a:srgbClr val="F0F7FF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18598896"/>
            <a:ext cx="67002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D47A1"/>
                </a:solidFill>
                <a:latin typeface="Calibri"/>
              </a:rPr>
              <a:t>Text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19037808"/>
            <a:ext cx="670026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0" i="0">
                <a:solidFill>
                  <a:srgbClr val="1A1A2E"/>
                </a:solidFill>
                <a:latin typeface="Calibri"/>
              </a:rPr>
              <a:t>zlib · Brotli · zopfli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" y="19924776"/>
            <a:ext cx="6883146" cy="1280160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20016216"/>
            <a:ext cx="67002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D47A1"/>
                </a:solidFill>
                <a:latin typeface="Calibri"/>
              </a:rPr>
              <a:t>PDF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" y="20455128"/>
            <a:ext cx="670026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0" i="0">
                <a:solidFill>
                  <a:srgbClr val="1A1A2E"/>
                </a:solidFill>
                <a:latin typeface="Calibri"/>
              </a:rPr>
              <a:t>PyMuPDF · pikepdf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34122" y="17090136"/>
            <a:ext cx="6883146" cy="1280160"/>
          </a:xfrm>
          <a:prstGeom prst="rect">
            <a:avLst/>
          </a:prstGeom>
          <a:solidFill>
            <a:srgbClr val="F0F7FF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43850" y="17181576"/>
            <a:ext cx="67002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D47A1"/>
                </a:solidFill>
                <a:latin typeface="Calibri"/>
              </a:rPr>
              <a:t>Images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43850" y="17620488"/>
            <a:ext cx="670026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0" i="0">
                <a:solidFill>
                  <a:srgbClr val="1A1A2E"/>
                </a:solidFill>
                <a:latin typeface="Calibri"/>
              </a:rPr>
              <a:t>Pillow (PIL)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34122" y="18507456"/>
            <a:ext cx="6883146" cy="1280160"/>
          </a:xfrm>
          <a:prstGeom prst="rect">
            <a:avLst/>
          </a:prstGeom>
          <a:solidFill>
            <a:srgbClr val="E3F2FD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43850" y="18598896"/>
            <a:ext cx="67002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D47A1"/>
                </a:solidFill>
                <a:latin typeface="Calibri"/>
              </a:rPr>
              <a:t>CLI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43850" y="19037808"/>
            <a:ext cx="670026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0" i="0">
                <a:solidFill>
                  <a:srgbClr val="1A1A2E"/>
                </a:solidFill>
                <a:latin typeface="Calibri"/>
              </a:rPr>
              <a:t>argparse · rich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34122" y="19924776"/>
            <a:ext cx="6883146" cy="1280160"/>
          </a:xfrm>
          <a:prstGeom prst="rect">
            <a:avLst/>
          </a:prstGeom>
          <a:solidFill>
            <a:srgbClr val="F0F7FF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43850" y="20016216"/>
            <a:ext cx="67002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D47A1"/>
                </a:solidFill>
                <a:latin typeface="Calibri"/>
              </a:rPr>
              <a:t>Platform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43850" y="20455128"/>
            <a:ext cx="670026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0" i="0">
                <a:solidFill>
                  <a:srgbClr val="1A1A2E"/>
                </a:solidFill>
                <a:latin typeface="Calibri"/>
              </a:rPr>
              <a:t>Windows / Linux / macOS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85216" y="22338792"/>
            <a:ext cx="14442948" cy="1894636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22256496"/>
            <a:ext cx="14442948" cy="18946368"/>
          </a:xfrm>
          <a:prstGeom prst="rect">
            <a:avLst/>
          </a:prstGeom>
          <a:solidFill>
            <a:srgbClr val="FFFFFF"/>
          </a:solidFill>
          <a:ln w="317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02920" y="22256496"/>
            <a:ext cx="14442948" cy="7772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23033736"/>
            <a:ext cx="91440" cy="18169128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4088" y="22329648"/>
            <a:ext cx="14122908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Rules &amp; Logic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2648" y="23143464"/>
            <a:ext cx="14223492" cy="1959864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58952" y="23931372"/>
            <a:ext cx="237744" cy="23774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1288" y="23198328"/>
            <a:ext cx="13583412" cy="79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Input Validation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1288" y="23942040"/>
            <a:ext cx="13583412" cy="123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Accepts .txt, .pdf, .jpg, .jpeg, .png, .bmp — all other formats are rejected with a clear, descriptive error message and non-zero exit code.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9224" y="25112472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8952" y="25927812"/>
            <a:ext cx="237744" cy="23774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61288" y="25194768"/>
            <a:ext cx="13583412" cy="79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Simple Mode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1288" y="25938480"/>
            <a:ext cx="13583412" cy="123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Standard zlib DEFLATE for text; baseline JPEG re-encoding for images; structure-preserving PDF compression.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9224" y="27108912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2648" y="27136344"/>
            <a:ext cx="14223492" cy="1959864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58952" y="27924252"/>
            <a:ext cx="237744" cy="23774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61288" y="27191208"/>
            <a:ext cx="13583412" cy="79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Aggressive Mode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61288" y="27934920"/>
            <a:ext cx="13583412" cy="123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Brotli level-11 for text; PIL progressive + palette quantisation for images; object-stream merging for PDFs.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9224" y="29105352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58952" y="29920692"/>
            <a:ext cx="237744" cy="23774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61288" y="29187648"/>
            <a:ext cx="13583412" cy="79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Output Naming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61288" y="29931360"/>
            <a:ext cx="13583412" cy="123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Compressed file saved as &lt;name&gt;_compressed.&lt;ext&gt; alongside the source file in the same directory — no path juggling.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9224" y="31101792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12648" y="31129224"/>
            <a:ext cx="14223492" cy="1959864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8952" y="31917132"/>
            <a:ext cx="237744" cy="23774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61288" y="31184088"/>
            <a:ext cx="13583412" cy="79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Overwrite Guard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61288" y="31927800"/>
            <a:ext cx="13583412" cy="123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If a compressed output already exists the tool prompts the user before overwriting, preventing accidental data loss.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9224" y="33098232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58952" y="33913572"/>
            <a:ext cx="237744" cy="23774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61288" y="33180528"/>
            <a:ext cx="13583412" cy="79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Error Handling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61288" y="33924240"/>
            <a:ext cx="13583412" cy="123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Corrupted or unreadable files surface a clear exception message and exit with a non-zero return code for scripting compatibility.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49224" y="35094672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2648" y="35122104"/>
            <a:ext cx="14223492" cy="1959864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58952" y="35910012"/>
            <a:ext cx="237744" cy="23774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161288" y="35176968"/>
            <a:ext cx="13583412" cy="79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Lossless Guarantee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61288" y="35920680"/>
            <a:ext cx="13583412" cy="123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TXT compression is always fully lossless. Image and PDF modes preserve perceptual quality above a configurable threshold.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9224" y="37091112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58952" y="37906452"/>
            <a:ext cx="237744" cy="23774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61288" y="37173408"/>
            <a:ext cx="13583412" cy="79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Progress Feedback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61288" y="37917120"/>
            <a:ext cx="13583412" cy="123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A live ASCII progress bar with ETA is displayed during compression to provide real-time feedback on large files.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49224" y="39087552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12648" y="39114984"/>
            <a:ext cx="14223492" cy="1959864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58952" y="39902892"/>
            <a:ext cx="237744" cy="23774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61288" y="39169848"/>
            <a:ext cx="13583412" cy="79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Cross-Platform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61288" y="39913560"/>
            <a:ext cx="13583412" cy="123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Tested on Windows 10/11, Ubuntu 22.04 LTS and macOS 13 Ventura with Python 3.10+. Single-file deployment via PyInstaller.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49224" y="41083992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5412212" y="8769096"/>
            <a:ext cx="14442948" cy="87782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5329916" y="8686800"/>
            <a:ext cx="14442948" cy="8778240"/>
          </a:xfrm>
          <a:prstGeom prst="rect">
            <a:avLst/>
          </a:prstGeom>
          <a:solidFill>
            <a:srgbClr val="FFFFFF"/>
          </a:solidFill>
          <a:ln w="317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5329916" y="8686800"/>
            <a:ext cx="14442948" cy="7772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5329916" y="9464040"/>
            <a:ext cx="91440" cy="80010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5531084" y="8759952"/>
            <a:ext cx="14122908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5439644" y="9573768"/>
            <a:ext cx="14223492" cy="152339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5585948" y="10088575"/>
            <a:ext cx="347472" cy="347472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5585948" y="10088575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116300" y="9628632"/>
            <a:ext cx="13455396" cy="62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Reduce Storage Footprint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6116300" y="10197754"/>
            <a:ext cx="13455396" cy="935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Compress document file sizes to optimise local storage usage and network bandwidth when sharing files across teams.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5476220" y="11106302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5585948" y="11648541"/>
            <a:ext cx="347472" cy="347472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5585948" y="11648541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6116300" y="11188598"/>
            <a:ext cx="13455396" cy="62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Multi-Format Support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6116300" y="11757720"/>
            <a:ext cx="13455396" cy="935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Handle Images (JPG / PNG / BMP), PDF, and plain text (TXT) in a single unified command-line interface.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5476220" y="12666268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5439644" y="12693700"/>
            <a:ext cx="14223492" cy="152339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5585948" y="13208508"/>
            <a:ext cx="347472" cy="347472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5585948" y="1320850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6116300" y="12748564"/>
            <a:ext cx="13455396" cy="62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Dual Compression Modes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6116300" y="13317687"/>
            <a:ext cx="13455396" cy="935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Offer a simple lossless mode for everyday use and an aggressive high-ratio mode for maximum space savings.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5476220" y="14226235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5585948" y="14768474"/>
            <a:ext cx="347472" cy="347472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5585948" y="1476847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6116300" y="14308531"/>
            <a:ext cx="13455396" cy="62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User-Friendly Interface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6116300" y="14877653"/>
            <a:ext cx="13455396" cy="935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Provide clear prompts, live progress indicators and helpful error messages so non-expert users can operate the tool with confidence.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5476220" y="15786201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5439644" y="15813633"/>
            <a:ext cx="14223492" cy="152339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5585948" y="16328440"/>
            <a:ext cx="347472" cy="347472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5585948" y="163284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16300" y="15868497"/>
            <a:ext cx="13455396" cy="62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0D47A1"/>
                </a:solidFill>
                <a:latin typeface="Calibri"/>
              </a:rPr>
              <a:t>Offline &amp; Dependency-Light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16300" y="16437620"/>
            <a:ext cx="13455396" cy="935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 i="0">
                <a:solidFill>
                  <a:srgbClr val="1A1A2E"/>
                </a:solidFill>
                <a:latin typeface="Calibri"/>
              </a:rPr>
              <a:t>Run fully offline with no external API keys; keep third-party dependencies minimal, auditable and easy to install.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5476220" y="17346168"/>
            <a:ext cx="14150340" cy="182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5412212" y="17931384"/>
            <a:ext cx="14442948" cy="23353776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5329916" y="17849088"/>
            <a:ext cx="14442948" cy="23353776"/>
          </a:xfrm>
          <a:prstGeom prst="rect">
            <a:avLst/>
          </a:prstGeom>
          <a:solidFill>
            <a:srgbClr val="FFFFFF"/>
          </a:solidFill>
          <a:ln w="317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5329916" y="17849088"/>
            <a:ext cx="14442948" cy="7772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5329916" y="18626328"/>
            <a:ext cx="91440" cy="22576536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5531084" y="17922240"/>
            <a:ext cx="14122908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Compression Visualiser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5531084" y="1865376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47A1"/>
                </a:solidFill>
                <a:latin typeface="Calibri"/>
              </a:rPr>
              <a:t>FORMAT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445484" y="186537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47A1"/>
                </a:solidFill>
                <a:latin typeface="Calibri"/>
              </a:rPr>
              <a:t>ORIGINAL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0377404" y="186537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47A1"/>
                </a:solidFill>
                <a:latin typeface="Calibri"/>
              </a:rPr>
              <a:t>COMPRESSED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3577804" y="1865376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47A1"/>
                </a:solidFill>
                <a:latin typeface="Calibri"/>
              </a:rPr>
              <a:t>SAVINGS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5406604" y="18653760"/>
            <a:ext cx="4160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47A1"/>
                </a:solidFill>
                <a:latin typeface="Calibri"/>
              </a:rPr>
              <a:t>PROGRESS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5531084" y="19165824"/>
            <a:ext cx="14040612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5531084" y="19220688"/>
            <a:ext cx="14040612" cy="7174992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5393924" y="22213824"/>
            <a:ext cx="1188720" cy="1188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5393924" y="22213824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TXT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6582644" y="21665184"/>
            <a:ext cx="2926080" cy="2286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6655796" y="21738336"/>
            <a:ext cx="27797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D47A1"/>
                </a:solidFill>
                <a:latin typeface="Calibri"/>
              </a:rPr>
              <a:t>README.txt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6655796" y="22195536"/>
            <a:ext cx="277977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47A1"/>
                </a:solidFill>
                <a:latin typeface="Calibri"/>
              </a:rPr>
              <a:t>2.40 MB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6719804" y="22872192"/>
            <a:ext cx="2121408" cy="10058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6719804" y="23091648"/>
            <a:ext cx="1803196" cy="10058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6719804" y="23311104"/>
            <a:ext cx="1484985" cy="10058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6719804" y="23530560"/>
            <a:ext cx="1166774" cy="10058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9645884" y="22259544"/>
            <a:ext cx="731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CA00"/>
                </a:solidFill>
                <a:latin typeface="Calibri"/>
              </a:rPr>
              <a:t>▶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0514564" y="22259544"/>
            <a:ext cx="292608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20587716" y="22332696"/>
            <a:ext cx="277977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B5E20"/>
                </a:solidFill>
                <a:latin typeface="Calibri"/>
              </a:rPr>
              <a:t>README_compressed.txt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0587716" y="22753320"/>
            <a:ext cx="27797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B5E20"/>
                </a:solidFill>
                <a:latin typeface="Calibri"/>
              </a:rPr>
              <a:t>0.51 MB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3669244" y="22168104"/>
            <a:ext cx="1645920" cy="12801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3669244" y="22213824"/>
            <a:ext cx="16459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CA00"/>
                </a:solidFill>
                <a:latin typeface="Calibri"/>
              </a:rPr>
              <a:t>−79%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669244" y="22910596"/>
            <a:ext cx="1645920" cy="486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saved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5498044" y="22488144"/>
            <a:ext cx="3977640" cy="38404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5498044" y="22488144"/>
            <a:ext cx="3142335" cy="384048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5498044" y="22012656"/>
            <a:ext cx="3977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D47A1"/>
                </a:solidFill>
                <a:latin typeface="Calibri"/>
              </a:rPr>
              <a:t>79%  compressed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5498044" y="22927056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757575"/>
                </a:solidFill>
                <a:latin typeface="Calibri"/>
              </a:rPr>
              <a:t>0%                                        100%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5531084" y="26487120"/>
            <a:ext cx="14040612" cy="717499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5393924" y="29480256"/>
            <a:ext cx="1188720" cy="118872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15393924" y="29480256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PDF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6582644" y="28931616"/>
            <a:ext cx="2926080" cy="2286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6655796" y="29004768"/>
            <a:ext cx="27797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D47A1"/>
                </a:solidFill>
                <a:latin typeface="Calibri"/>
              </a:rPr>
              <a:t>report.pdf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6655796" y="29461968"/>
            <a:ext cx="277977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47A1"/>
                </a:solidFill>
                <a:latin typeface="Calibri"/>
              </a:rPr>
              <a:t>4.80 MB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719804" y="30138624"/>
            <a:ext cx="2121408" cy="10058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6719804" y="30358080"/>
            <a:ext cx="1803196" cy="10058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6719804" y="30577536"/>
            <a:ext cx="1484985" cy="10058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16719804" y="30796992"/>
            <a:ext cx="1166774" cy="10058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9645884" y="29525976"/>
            <a:ext cx="731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CA00"/>
                </a:solidFill>
                <a:latin typeface="Calibri"/>
              </a:rPr>
              <a:t>▶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20514564" y="29525976"/>
            <a:ext cx="292608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20587716" y="29599128"/>
            <a:ext cx="277977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B5E20"/>
                </a:solidFill>
                <a:latin typeface="Calibri"/>
              </a:rPr>
              <a:t>report_compressed.pdf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0587716" y="30019752"/>
            <a:ext cx="27797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B5E20"/>
                </a:solidFill>
                <a:latin typeface="Calibri"/>
              </a:rPr>
              <a:t>1.67 MB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3669244" y="29434536"/>
            <a:ext cx="1645920" cy="12801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3669244" y="29480256"/>
            <a:ext cx="16459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CA00"/>
                </a:solidFill>
                <a:latin typeface="Calibri"/>
              </a:rPr>
              <a:t>−65%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3669244" y="30177028"/>
            <a:ext cx="1645920" cy="486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saved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25498044" y="29754576"/>
            <a:ext cx="3977640" cy="38404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5498044" y="29754576"/>
            <a:ext cx="2585466" cy="384048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5498044" y="29279088"/>
            <a:ext cx="3977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D47A1"/>
                </a:solidFill>
                <a:latin typeface="Calibri"/>
              </a:rPr>
              <a:t>65%  compressed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5498044" y="30193488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757575"/>
                </a:solidFill>
                <a:latin typeface="Calibri"/>
              </a:rPr>
              <a:t>0%                                        100%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15531084" y="33753552"/>
            <a:ext cx="14040612" cy="7174992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5393924" y="36746688"/>
            <a:ext cx="1188720" cy="11887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5393924" y="36746688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IMG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16582644" y="36198048"/>
            <a:ext cx="2926080" cy="2286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6655796" y="36271200"/>
            <a:ext cx="27797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D47A1"/>
                </a:solidFill>
                <a:latin typeface="Calibri"/>
              </a:rPr>
              <a:t>photo.png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6655796" y="36728400"/>
            <a:ext cx="277977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47A1"/>
                </a:solidFill>
                <a:latin typeface="Calibri"/>
              </a:rPr>
              <a:t>3.20 MB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16719804" y="37405056"/>
            <a:ext cx="2121408" cy="10058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6719804" y="37624512"/>
            <a:ext cx="1803196" cy="10058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6719804" y="37843968"/>
            <a:ext cx="1484985" cy="10058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6719804" y="38063424"/>
            <a:ext cx="1166774" cy="10058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9645884" y="36792408"/>
            <a:ext cx="731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CA00"/>
                </a:solidFill>
                <a:latin typeface="Calibri"/>
              </a:rPr>
              <a:t>▶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0514564" y="36792408"/>
            <a:ext cx="292608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0587716" y="36865560"/>
            <a:ext cx="277977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B5E20"/>
                </a:solidFill>
                <a:latin typeface="Calibri"/>
              </a:rPr>
              <a:t>photo_compressed.png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0587716" y="37286184"/>
            <a:ext cx="27797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B5E20"/>
                </a:solidFill>
                <a:latin typeface="Calibri"/>
              </a:rPr>
              <a:t>0.72 MB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23669244" y="36700968"/>
            <a:ext cx="1645920" cy="12801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23669244" y="36746688"/>
            <a:ext cx="16459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CA00"/>
                </a:solidFill>
                <a:latin typeface="Calibri"/>
              </a:rPr>
              <a:t>−77%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3669244" y="37443460"/>
            <a:ext cx="1645920" cy="486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saved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25498044" y="37021008"/>
            <a:ext cx="3977640" cy="38404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25498044" y="37021008"/>
            <a:ext cx="3062782" cy="384048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25498044" y="36545520"/>
            <a:ext cx="3977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D47A1"/>
                </a:solidFill>
                <a:latin typeface="Calibri"/>
              </a:rPr>
              <a:t>77%  compressed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5498044" y="3745992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757575"/>
                </a:solidFill>
                <a:latin typeface="Calibri"/>
              </a:rPr>
              <a:t>0%                                        100%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0" y="41614344"/>
            <a:ext cx="30275784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0" y="41614344"/>
            <a:ext cx="30275784" cy="91440"/>
          </a:xfrm>
          <a:prstGeom prst="rect">
            <a:avLst/>
          </a:prstGeom>
          <a:solidFill>
            <a:srgbClr val="FFC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0" y="41705784"/>
            <a:ext cx="30275784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502920" y="41742360"/>
            <a:ext cx="292699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0" i="0">
                <a:solidFill>
                  <a:srgbClr val="FFFFFF"/>
                </a:solidFill>
                <a:latin typeface="Calibri"/>
              </a:rPr>
              <a:t>DocCompressor  ·  BS Robotics &amp; Artificial Intelligence  ·  Instructor: Ms Eisha Nawaz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502920" y="42272712"/>
            <a:ext cx="292699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1">
                <a:solidFill>
                  <a:srgbClr val="BBDEFB"/>
                </a:solidFill>
                <a:latin typeface="Calibri"/>
              </a:rPr>
              <a:t>Programming Fundamentals (PF)   |   © 2024  — 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