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784" cy="4280306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5784" cy="42803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275784" cy="53035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93792"/>
            <a:ext cx="30275784" cy="109728"/>
          </a:xfrm>
          <a:prstGeom prst="rect">
            <a:avLst/>
          </a:prstGeom>
          <a:solidFill>
            <a:srgbClr val="FFC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120640"/>
            <a:ext cx="30275784" cy="7315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29269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0" b="1" i="0">
                <a:solidFill>
                  <a:srgbClr val="FFFFFF"/>
                </a:solidFill>
                <a:latin typeface="Calibri"/>
              </a:rPr>
              <a:t>DocCompressor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292699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1">
                <a:solidFill>
                  <a:srgbClr val="BBDEFB"/>
                </a:solidFill>
                <a:latin typeface="Calibri"/>
              </a:rPr>
              <a:t>Smart  ·  Fast  ·  Lossless   |   Multi-Format CLI Compression Tool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971800"/>
            <a:ext cx="29269944" cy="4572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090672"/>
            <a:ext cx="97566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BBDEFB"/>
                </a:solidFill>
                <a:latin typeface="Calibri"/>
              </a:rPr>
              <a:t>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66160"/>
            <a:ext cx="97566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Calibri"/>
              </a:rPr>
              <a:t>Programming Fundamentals (PF)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59568" y="3090672"/>
            <a:ext cx="97566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BBDEFB"/>
                </a:solidFill>
                <a:latin typeface="Calibri"/>
              </a:rPr>
              <a:t>INSTRUCTOR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59568" y="3566160"/>
            <a:ext cx="97566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Calibri"/>
              </a:rPr>
              <a:t>Ms Eisha Nawaz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016216" y="3090672"/>
            <a:ext cx="97566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BBDEFB"/>
                </a:solidFill>
                <a:latin typeface="Calibri"/>
              </a:rPr>
              <a:t>DEPARTMENT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016216" y="3566160"/>
            <a:ext cx="97566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Calibri"/>
              </a:rPr>
              <a:t>BS Robotics &amp; Artificial Intelligence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45852" y="3044952"/>
            <a:ext cx="27432" cy="123444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002500" y="3044952"/>
            <a:ext cx="27432" cy="123444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5303520"/>
            <a:ext cx="30275784" cy="2926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8156448"/>
            <a:ext cx="30275784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5504688"/>
            <a:ext cx="6951726" cy="2523744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596128"/>
            <a:ext cx="695172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0D47A1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766560"/>
            <a:ext cx="695172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565C0"/>
                </a:solidFill>
                <a:latin typeface="Calibri"/>
              </a:rPr>
              <a:t>Supported Formats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7333488"/>
            <a:ext cx="695172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0" i="1">
                <a:solidFill>
                  <a:srgbClr val="757575"/>
                </a:solidFill>
                <a:latin typeface="Calibri"/>
              </a:rPr>
              <a:t>TXT · PDF · IMG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3286" y="5504688"/>
            <a:ext cx="6951726" cy="2523744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3286" y="5596128"/>
            <a:ext cx="695172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0D47A1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3286" y="6766560"/>
            <a:ext cx="695172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565C0"/>
                </a:solidFill>
                <a:latin typeface="Calibri"/>
              </a:rPr>
              <a:t>Compression Modes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3286" y="7333488"/>
            <a:ext cx="695172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0" i="1">
                <a:solidFill>
                  <a:srgbClr val="757575"/>
                </a:solidFill>
                <a:latin typeface="Calibri"/>
              </a:rPr>
              <a:t>Simple · Aggressive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320772" y="5504688"/>
            <a:ext cx="6951726" cy="2523744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320772" y="5596128"/>
            <a:ext cx="695172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0D47A1"/>
                </a:solidFill>
                <a:latin typeface="Calibri"/>
              </a:rPr>
              <a:t>79%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320772" y="6766560"/>
            <a:ext cx="695172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565C0"/>
                </a:solidFill>
                <a:latin typeface="Calibri"/>
              </a:rPr>
              <a:t>Max Compression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20772" y="7333488"/>
            <a:ext cx="695172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0" i="1">
                <a:solidFill>
                  <a:srgbClr val="757575"/>
                </a:solidFill>
                <a:latin typeface="Calibri"/>
              </a:rPr>
              <a:t>Text files (Brotli-11)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638258" y="5504688"/>
            <a:ext cx="6951726" cy="2523744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638258" y="5596128"/>
            <a:ext cx="695172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0D47A1"/>
                </a:solidFill>
                <a:latin typeface="Calibri"/>
              </a:rPr>
              <a:t>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638258" y="6766560"/>
            <a:ext cx="695172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565C0"/>
                </a:solidFill>
                <a:latin typeface="Calibri"/>
              </a:rPr>
              <a:t>Offline Operation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638258" y="7333488"/>
            <a:ext cx="695172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0" i="1">
                <a:solidFill>
                  <a:srgbClr val="757575"/>
                </a:solidFill>
                <a:latin typeface="Calibri"/>
              </a:rPr>
              <a:t>No API keys required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5216" y="8723376"/>
            <a:ext cx="29269944" cy="47548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8641080"/>
            <a:ext cx="29269944" cy="4754880"/>
          </a:xfrm>
          <a:prstGeom prst="rect">
            <a:avLst/>
          </a:prstGeom>
          <a:solidFill>
            <a:srgbClr val="FFFFFF"/>
          </a:solidFill>
          <a:ln w="317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8641080"/>
            <a:ext cx="29269944" cy="7772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9418320"/>
            <a:ext cx="91440" cy="397764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" y="8714232"/>
            <a:ext cx="2894990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Project Team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42132" y="9528048"/>
            <a:ext cx="11887200" cy="3749040"/>
          </a:xfrm>
          <a:prstGeom prst="rect">
            <a:avLst/>
          </a:prstGeom>
          <a:solidFill>
            <a:srgbClr val="E3F2FD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895844" y="9582912"/>
            <a:ext cx="2779776" cy="2779776"/>
          </a:xfrm>
          <a:prstGeom prst="rect">
            <a:avLst/>
          </a:prstGeom>
          <a:solidFill>
            <a:srgbClr val="FFFFFF"/>
          </a:solidFill>
          <a:ln w="381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895844" y="9582912"/>
            <a:ext cx="2779776" cy="2779776"/>
          </a:xfrm>
          <a:prstGeom prst="ellipse">
            <a:avLst/>
          </a:prstGeom>
          <a:solidFill>
            <a:srgbClr val="FFFFFF"/>
          </a:solidFill>
          <a:ln w="508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05572" y="9692640"/>
            <a:ext cx="2560320" cy="2560320"/>
          </a:xfrm>
          <a:prstGeom prst="ellipse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37092" y="1033272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FFFFFF"/>
                </a:solidFill>
                <a:latin typeface="Calibri"/>
              </a:rPr>
              <a:t>MA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42132" y="12344400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757575"/>
                </a:solidFill>
                <a:latin typeface="Calibri"/>
              </a:rPr>
              <a:t>[ Replace with photo 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42132" y="12765024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D47A1"/>
                </a:solidFill>
                <a:latin typeface="Calibri"/>
              </a:rPr>
              <a:t>Mubashar Ali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42132" y="13514832"/>
            <a:ext cx="1188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1565C0"/>
                </a:solidFill>
                <a:latin typeface="Calibri"/>
              </a:rPr>
              <a:t>Developer  ·  BS Robotics &amp; AI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4132" y="13423392"/>
            <a:ext cx="2743200" cy="4572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7885664" y="9528048"/>
            <a:ext cx="11887200" cy="3749040"/>
          </a:xfrm>
          <a:prstGeom prst="rect">
            <a:avLst/>
          </a:prstGeom>
          <a:solidFill>
            <a:srgbClr val="E3F2FD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2439376" y="9582912"/>
            <a:ext cx="2779776" cy="2779776"/>
          </a:xfrm>
          <a:prstGeom prst="rect">
            <a:avLst/>
          </a:prstGeom>
          <a:solidFill>
            <a:srgbClr val="FFFFFF"/>
          </a:solidFill>
          <a:ln w="381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2439376" y="9582912"/>
            <a:ext cx="2779776" cy="2779776"/>
          </a:xfrm>
          <a:prstGeom prst="ellipse">
            <a:avLst/>
          </a:prstGeom>
          <a:solidFill>
            <a:srgbClr val="FFFFFF"/>
          </a:solidFill>
          <a:ln w="508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2549104" y="9692640"/>
            <a:ext cx="2560320" cy="256032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280624" y="1033272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FFFFFF"/>
                </a:solidFill>
                <a:latin typeface="Calibri"/>
              </a:rPr>
              <a:t>MA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7885664" y="12344400"/>
            <a:ext cx="1188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757575"/>
                </a:solidFill>
                <a:latin typeface="Calibri"/>
              </a:rPr>
              <a:t>[ Replace with photo 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885664" y="12765024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D47A1"/>
                </a:solidFill>
                <a:latin typeface="Calibri"/>
              </a:rPr>
              <a:t>Momina Ali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885664" y="13514832"/>
            <a:ext cx="1188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1565C0"/>
                </a:solidFill>
                <a:latin typeface="Calibri"/>
              </a:rPr>
              <a:t>Developer  ·  BS Robotics &amp; AI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457664" y="13423392"/>
            <a:ext cx="2743200" cy="4572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85216" y="13981176"/>
            <a:ext cx="14442948" cy="685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2920" y="13898880"/>
            <a:ext cx="14442948" cy="6858000"/>
          </a:xfrm>
          <a:prstGeom prst="rect">
            <a:avLst/>
          </a:prstGeom>
          <a:solidFill>
            <a:srgbClr val="FFFFFF"/>
          </a:solidFill>
          <a:ln w="317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2920" y="13898880"/>
            <a:ext cx="14442948" cy="7772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02920" y="14676120"/>
            <a:ext cx="91440" cy="608076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4088" y="13972032"/>
            <a:ext cx="1412290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About the Project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8952" y="14785848"/>
            <a:ext cx="13958316" cy="5879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0" i="0">
                <a:solidFill>
                  <a:srgbClr val="1A1A2E"/>
                </a:solidFill>
                <a:latin typeface="Calibri"/>
              </a:rPr>
              <a:t>DocCompressor is a terminal-based compression utility that handles three major document formats: plain text (TXT), portable documents (PDF) and raster images (JPG / PNG / BMP).
▸  Simple Mode — Standard zlib DEFLATE for text, baseline JPEG re-encoding for images and structure-preserving compression for PDFs.
▸  Aggressive Mode — Brotli level-11 / zopfli pipeline for maximum ratio; PIL progressive save with palette quantisation for images.
The tool runs fully offline, requires no external API keys and produces byte-for-byte reproducible output across Windows, Ubuntu and macOS.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85216" y="21223224"/>
            <a:ext cx="14442948" cy="53035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02920" y="21140928"/>
            <a:ext cx="14442948" cy="5303520"/>
          </a:xfrm>
          <a:prstGeom prst="rect">
            <a:avLst/>
          </a:prstGeom>
          <a:solidFill>
            <a:srgbClr val="FFFFFF"/>
          </a:solidFill>
          <a:ln w="317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02920" y="21140928"/>
            <a:ext cx="14442948" cy="7772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02920" y="21918168"/>
            <a:ext cx="91440" cy="452628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04088" y="21214080"/>
            <a:ext cx="1412290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58952" y="22027896"/>
            <a:ext cx="6883146" cy="120700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8680" y="22119336"/>
            <a:ext cx="670026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47A1"/>
                </a:solidFill>
                <a:latin typeface="Calibri"/>
              </a:rPr>
              <a:t>Language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" y="22576536"/>
            <a:ext cx="670026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 i="0">
                <a:solidFill>
                  <a:srgbClr val="1A1A2E"/>
                </a:solidFill>
                <a:latin typeface="Calibri"/>
              </a:rPr>
              <a:t>Python 3.10+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834122" y="22027896"/>
            <a:ext cx="6883146" cy="1207008"/>
          </a:xfrm>
          <a:prstGeom prst="rect">
            <a:avLst/>
          </a:prstGeom>
          <a:solidFill>
            <a:srgbClr val="F0F7FF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943850" y="22119336"/>
            <a:ext cx="670026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47A1"/>
                </a:solidFill>
                <a:latin typeface="Calibri"/>
              </a:rPr>
              <a:t>Text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43850" y="22576536"/>
            <a:ext cx="670026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 i="0">
                <a:solidFill>
                  <a:srgbClr val="1A1A2E"/>
                </a:solidFill>
                <a:latin typeface="Calibri"/>
              </a:rPr>
              <a:t>zlib · Brotli · zopfli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58952" y="23326344"/>
            <a:ext cx="6883146" cy="1207008"/>
          </a:xfrm>
          <a:prstGeom prst="rect">
            <a:avLst/>
          </a:prstGeom>
          <a:solidFill>
            <a:srgbClr val="F0F7FF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68680" y="23417784"/>
            <a:ext cx="670026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47A1"/>
                </a:solidFill>
                <a:latin typeface="Calibri"/>
              </a:rPr>
              <a:t>PDF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8680" y="23874984"/>
            <a:ext cx="670026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 i="0">
                <a:solidFill>
                  <a:srgbClr val="1A1A2E"/>
                </a:solidFill>
                <a:latin typeface="Calibri"/>
              </a:rPr>
              <a:t>PyMuPDF · pikepdf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834122" y="23326344"/>
            <a:ext cx="6883146" cy="120700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943850" y="23417784"/>
            <a:ext cx="670026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47A1"/>
                </a:solidFill>
                <a:latin typeface="Calibri"/>
              </a:rPr>
              <a:t>Images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43850" y="23874984"/>
            <a:ext cx="670026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 i="0">
                <a:solidFill>
                  <a:srgbClr val="1A1A2E"/>
                </a:solidFill>
                <a:latin typeface="Calibri"/>
              </a:rPr>
              <a:t>Pillow (PIL)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58952" y="24624792"/>
            <a:ext cx="6883146" cy="120700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68680" y="24716232"/>
            <a:ext cx="670026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47A1"/>
                </a:solidFill>
                <a:latin typeface="Calibri"/>
              </a:rPr>
              <a:t>CLI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68680" y="25173432"/>
            <a:ext cx="670026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 i="0">
                <a:solidFill>
                  <a:srgbClr val="1A1A2E"/>
                </a:solidFill>
                <a:latin typeface="Calibri"/>
              </a:rPr>
              <a:t>argparse · rich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834122" y="24624792"/>
            <a:ext cx="6883146" cy="1207008"/>
          </a:xfrm>
          <a:prstGeom prst="rect">
            <a:avLst/>
          </a:prstGeom>
          <a:solidFill>
            <a:srgbClr val="F0F7FF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943850" y="24716232"/>
            <a:ext cx="670026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47A1"/>
                </a:solidFill>
                <a:latin typeface="Calibri"/>
              </a:rPr>
              <a:t>Platform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943850" y="25173432"/>
            <a:ext cx="670026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 i="0">
                <a:solidFill>
                  <a:srgbClr val="1A1A2E"/>
                </a:solidFill>
                <a:latin typeface="Calibri"/>
              </a:rPr>
              <a:t>Win / Linux / macOS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85216" y="26910792"/>
            <a:ext cx="14442948" cy="1437436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02920" y="26828496"/>
            <a:ext cx="14442948" cy="14374368"/>
          </a:xfrm>
          <a:prstGeom prst="rect">
            <a:avLst/>
          </a:prstGeom>
          <a:solidFill>
            <a:srgbClr val="FFFFFF"/>
          </a:solidFill>
          <a:ln w="317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502920" y="26828496"/>
            <a:ext cx="14442948" cy="7772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02920" y="27605736"/>
            <a:ext cx="91440" cy="1359712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04088" y="26901648"/>
            <a:ext cx="1412290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Rules &amp; Logic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2648" y="27715464"/>
            <a:ext cx="14223492" cy="1451864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58952" y="28249372"/>
            <a:ext cx="237744" cy="23774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61288" y="27770328"/>
            <a:ext cx="13583412" cy="59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0D47A1"/>
                </a:solidFill>
                <a:latin typeface="Calibri"/>
              </a:rPr>
              <a:t>Input Validation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61288" y="28310840"/>
            <a:ext cx="13583412" cy="922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0" i="0">
                <a:solidFill>
                  <a:srgbClr val="1A1A2E"/>
                </a:solidFill>
                <a:latin typeface="Calibri"/>
              </a:rPr>
              <a:t>Accepts .txt, .pdf, .jpg, .jpeg, .png, .bmp — all other formats rejected with a clear error message.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49224" y="29176472"/>
            <a:ext cx="14150340" cy="18288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58952" y="29737812"/>
            <a:ext cx="237744" cy="23774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161288" y="29258768"/>
            <a:ext cx="13583412" cy="59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0D47A1"/>
                </a:solidFill>
                <a:latin typeface="Calibri"/>
              </a:rPr>
              <a:t>Simple Mode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61288" y="29799280"/>
            <a:ext cx="13583412" cy="922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0" i="0">
                <a:solidFill>
                  <a:srgbClr val="1A1A2E"/>
                </a:solidFill>
                <a:latin typeface="Calibri"/>
              </a:rPr>
              <a:t>Standard zlib DEFLATE for text; baseline JPEG re-encoding for images; structure-preserving PDF compression.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49224" y="30664912"/>
            <a:ext cx="14150340" cy="18288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12648" y="30692344"/>
            <a:ext cx="14223492" cy="1451864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58952" y="31226252"/>
            <a:ext cx="237744" cy="23774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161288" y="30747208"/>
            <a:ext cx="13583412" cy="59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0D47A1"/>
                </a:solidFill>
                <a:latin typeface="Calibri"/>
              </a:rPr>
              <a:t>Aggressive Mode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61288" y="31287720"/>
            <a:ext cx="13583412" cy="922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0" i="0">
                <a:solidFill>
                  <a:srgbClr val="1A1A2E"/>
                </a:solidFill>
                <a:latin typeface="Calibri"/>
              </a:rPr>
              <a:t>Brotli level-11 for text; PIL progressive + palette quantisation for images; object-stream merging for PDFs.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49224" y="32153352"/>
            <a:ext cx="14150340" cy="18288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58952" y="32714692"/>
            <a:ext cx="237744" cy="23774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161288" y="32235648"/>
            <a:ext cx="13583412" cy="59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0D47A1"/>
                </a:solidFill>
                <a:latin typeface="Calibri"/>
              </a:rPr>
              <a:t>Output Naming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61288" y="32776160"/>
            <a:ext cx="13583412" cy="922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0" i="0">
                <a:solidFill>
                  <a:srgbClr val="1A1A2E"/>
                </a:solidFill>
                <a:latin typeface="Calibri"/>
              </a:rPr>
              <a:t>Compressed file saved as &lt;name&gt;_compressed.&lt;ext&gt; in the same directory as the source file.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49224" y="33641792"/>
            <a:ext cx="14150340" cy="18288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12648" y="33669224"/>
            <a:ext cx="14223492" cy="1451864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58952" y="34203132"/>
            <a:ext cx="237744" cy="23774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161288" y="33724088"/>
            <a:ext cx="13583412" cy="59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0D47A1"/>
                </a:solidFill>
                <a:latin typeface="Calibri"/>
              </a:rPr>
              <a:t>Overwrite Guard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61288" y="34264600"/>
            <a:ext cx="13583412" cy="922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0" i="0">
                <a:solidFill>
                  <a:srgbClr val="1A1A2E"/>
                </a:solidFill>
                <a:latin typeface="Calibri"/>
              </a:rPr>
              <a:t>Prompts the user before overwriting an existing output file to prevent accidental data loss.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49224" y="35130232"/>
            <a:ext cx="14150340" cy="18288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758952" y="35691572"/>
            <a:ext cx="237744" cy="23774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161288" y="35212528"/>
            <a:ext cx="13583412" cy="59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0D47A1"/>
                </a:solidFill>
                <a:latin typeface="Calibri"/>
              </a:rPr>
              <a:t>Error Handling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61288" y="35753040"/>
            <a:ext cx="13583412" cy="922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0" i="0">
                <a:solidFill>
                  <a:srgbClr val="1A1A2E"/>
                </a:solidFill>
                <a:latin typeface="Calibri"/>
              </a:rPr>
              <a:t>Corrupted or unreadable files surface a clear exception message and exit with a non-zero return code.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49224" y="36618672"/>
            <a:ext cx="14150340" cy="18288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12648" y="36646104"/>
            <a:ext cx="14223492" cy="1451864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58952" y="37180012"/>
            <a:ext cx="237744" cy="23774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161288" y="36700968"/>
            <a:ext cx="13583412" cy="59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0D47A1"/>
                </a:solidFill>
                <a:latin typeface="Calibri"/>
              </a:rPr>
              <a:t>Lossless Guarantee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161288" y="37241480"/>
            <a:ext cx="13583412" cy="922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0" i="0">
                <a:solidFill>
                  <a:srgbClr val="1A1A2E"/>
                </a:solidFill>
                <a:latin typeface="Calibri"/>
              </a:rPr>
              <a:t>TXT compression is always fully lossless. Image and PDF modes preserve perceptual quality above a configurable threshold.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49224" y="38107112"/>
            <a:ext cx="14150340" cy="18288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758952" y="38668452"/>
            <a:ext cx="237744" cy="23774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161288" y="38189408"/>
            <a:ext cx="13583412" cy="59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0D47A1"/>
                </a:solidFill>
                <a:latin typeface="Calibri"/>
              </a:rPr>
              <a:t>Progress Feedback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161288" y="38729920"/>
            <a:ext cx="13583412" cy="922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0" i="0">
                <a:solidFill>
                  <a:srgbClr val="1A1A2E"/>
                </a:solidFill>
                <a:latin typeface="Calibri"/>
              </a:rPr>
              <a:t>A live ASCII progress bar with ETA is displayed during compression to provide real-time feedback on large files.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49224" y="39595552"/>
            <a:ext cx="14150340" cy="18288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612648" y="39622984"/>
            <a:ext cx="14223492" cy="1451864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758952" y="40156892"/>
            <a:ext cx="237744" cy="23774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161288" y="39677848"/>
            <a:ext cx="13583412" cy="59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0D47A1"/>
                </a:solidFill>
                <a:latin typeface="Calibri"/>
              </a:rPr>
              <a:t>Cross-Platform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161288" y="40218360"/>
            <a:ext cx="13583412" cy="922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0" i="0">
                <a:solidFill>
                  <a:srgbClr val="1A1A2E"/>
                </a:solidFill>
                <a:latin typeface="Calibri"/>
              </a:rPr>
              <a:t>Tested on Windows 10/11, Ubuntu 22.04 LTS and macOS 13 Ventura with Python 3.10+.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49224" y="41083992"/>
            <a:ext cx="14150340" cy="18288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5412212" y="13981176"/>
            <a:ext cx="14442948" cy="8229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5329916" y="13898880"/>
            <a:ext cx="14442948" cy="8229600"/>
          </a:xfrm>
          <a:prstGeom prst="rect">
            <a:avLst/>
          </a:prstGeom>
          <a:solidFill>
            <a:srgbClr val="FFFFFF"/>
          </a:solidFill>
          <a:ln w="317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5329916" y="13898880"/>
            <a:ext cx="14442948" cy="7772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5329916" y="14676120"/>
            <a:ext cx="91440" cy="745236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5531084" y="13972032"/>
            <a:ext cx="1412290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5439644" y="14785848"/>
            <a:ext cx="14223492" cy="141366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5585948" y="15245791"/>
            <a:ext cx="347472" cy="34747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5585948" y="15245791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6116300" y="14840712"/>
            <a:ext cx="13455396" cy="580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0D47A1"/>
                </a:solidFill>
                <a:latin typeface="Calibri"/>
              </a:rPr>
              <a:t>Reduce Storage Footprint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6116300" y="15365943"/>
            <a:ext cx="13455396" cy="870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0" i="0">
                <a:solidFill>
                  <a:srgbClr val="1A1A2E"/>
                </a:solidFill>
                <a:latin typeface="Calibri"/>
              </a:rPr>
              <a:t>Compress document file sizes to optimise local storage usage and network bandwidth when sharing files.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5476220" y="16208654"/>
            <a:ext cx="14150340" cy="18288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5585948" y="16696029"/>
            <a:ext cx="347472" cy="34747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5585948" y="16696029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6116300" y="16290950"/>
            <a:ext cx="13455396" cy="580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0D47A1"/>
                </a:solidFill>
                <a:latin typeface="Calibri"/>
              </a:rPr>
              <a:t>Multi-Format Support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6116300" y="16816181"/>
            <a:ext cx="13455396" cy="870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0" i="0">
                <a:solidFill>
                  <a:srgbClr val="1A1A2E"/>
                </a:solidFill>
                <a:latin typeface="Calibri"/>
              </a:rPr>
              <a:t>Handle Images (JPG / PNG / BMP), PDF, and plain text (TXT) in a single unified command-line interface.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5476220" y="17658892"/>
            <a:ext cx="14150340" cy="18288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5439644" y="17686324"/>
            <a:ext cx="14223492" cy="141366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5585948" y="18146268"/>
            <a:ext cx="347472" cy="34747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5585948" y="1814626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6116300" y="17741188"/>
            <a:ext cx="13455396" cy="580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0D47A1"/>
                </a:solidFill>
                <a:latin typeface="Calibri"/>
              </a:rPr>
              <a:t>Dual Compression Modes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6116300" y="18266420"/>
            <a:ext cx="13455396" cy="870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0" i="0">
                <a:solidFill>
                  <a:srgbClr val="1A1A2E"/>
                </a:solidFill>
                <a:latin typeface="Calibri"/>
              </a:rPr>
              <a:t>Offer a simple lossless mode for everyday use and an aggressive high-ratio mode for maximum savings.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5476220" y="19109131"/>
            <a:ext cx="14150340" cy="18288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15585948" y="19596506"/>
            <a:ext cx="347472" cy="34747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5585948" y="1959650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6116300" y="19191427"/>
            <a:ext cx="13455396" cy="580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0D47A1"/>
                </a:solidFill>
                <a:latin typeface="Calibri"/>
              </a:rPr>
              <a:t>User-Friendly Interface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6116300" y="19716658"/>
            <a:ext cx="13455396" cy="870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0" i="0">
                <a:solidFill>
                  <a:srgbClr val="1A1A2E"/>
                </a:solidFill>
                <a:latin typeface="Calibri"/>
              </a:rPr>
              <a:t>Provide clear prompts, live progress indicators and helpful error messages for non-expert users.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15476220" y="20559369"/>
            <a:ext cx="14150340" cy="18288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5439644" y="20586801"/>
            <a:ext cx="14223492" cy="141366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5585948" y="21046744"/>
            <a:ext cx="347472" cy="34747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5585948" y="2104674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6116300" y="20641665"/>
            <a:ext cx="13455396" cy="580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0D47A1"/>
                </a:solidFill>
                <a:latin typeface="Calibri"/>
              </a:rPr>
              <a:t>Offline &amp; Dependency-Light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6116300" y="21166896"/>
            <a:ext cx="13455396" cy="870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0" i="0">
                <a:solidFill>
                  <a:srgbClr val="1A1A2E"/>
                </a:solidFill>
                <a:latin typeface="Calibri"/>
              </a:rPr>
              <a:t>Run fully offline with no external API keys; keep third-party dependencies minimal and auditable.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5476220" y="22009607"/>
            <a:ext cx="14150340" cy="18288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15412212" y="22594824"/>
            <a:ext cx="14442948" cy="1869033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15329916" y="22512528"/>
            <a:ext cx="14442948" cy="18690336"/>
          </a:xfrm>
          <a:prstGeom prst="rect">
            <a:avLst/>
          </a:prstGeom>
          <a:solidFill>
            <a:srgbClr val="FFFFFF"/>
          </a:solidFill>
          <a:ln w="317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5329916" y="22512528"/>
            <a:ext cx="14442948" cy="7772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5329916" y="23289768"/>
            <a:ext cx="91440" cy="17913096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5531084" y="22585680"/>
            <a:ext cx="1412290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Compression Visualiser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5531084" y="233172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47A1"/>
                </a:solidFill>
                <a:latin typeface="Calibri"/>
              </a:rPr>
              <a:t>FORMAT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6445484" y="233172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47A1"/>
                </a:solidFill>
                <a:latin typeface="Calibri"/>
              </a:rPr>
              <a:t>ORIGINAL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20377404" y="233172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47A1"/>
                </a:solidFill>
                <a:latin typeface="Calibri"/>
              </a:rPr>
              <a:t>COMPRESSED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3577804" y="233172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47A1"/>
                </a:solidFill>
                <a:latin typeface="Calibri"/>
              </a:rPr>
              <a:t>SAVINGS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5406604" y="23317200"/>
            <a:ext cx="4160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47A1"/>
                </a:solidFill>
                <a:latin typeface="Calibri"/>
              </a:rPr>
              <a:t>PROGRESS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15531084" y="23829264"/>
            <a:ext cx="14040612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15531084" y="23884128"/>
            <a:ext cx="14040612" cy="562051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15393924" y="26100024"/>
            <a:ext cx="1188720" cy="1188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5393924" y="26100024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TXT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16582644" y="25551384"/>
            <a:ext cx="2926080" cy="228600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16655796" y="25624536"/>
            <a:ext cx="27797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D47A1"/>
                </a:solidFill>
                <a:latin typeface="Calibri"/>
              </a:rPr>
              <a:t>README.txt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6655796" y="26081736"/>
            <a:ext cx="277977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D47A1"/>
                </a:solidFill>
                <a:latin typeface="Calibri"/>
              </a:rPr>
              <a:t>2.40 MB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16719804" y="26758392"/>
            <a:ext cx="2121408" cy="10058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16719804" y="26977848"/>
            <a:ext cx="1803196" cy="10058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16719804" y="27197304"/>
            <a:ext cx="1484985" cy="10058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16719804" y="27416760"/>
            <a:ext cx="1166774" cy="10058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19645884" y="26145744"/>
            <a:ext cx="731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CA00"/>
                </a:solidFill>
                <a:latin typeface="Calibri"/>
              </a:rPr>
              <a:t>▶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20514564" y="26145744"/>
            <a:ext cx="2926080" cy="109728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20587716" y="26218896"/>
            <a:ext cx="277977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5E20"/>
                </a:solidFill>
                <a:latin typeface="Calibri"/>
              </a:rPr>
              <a:t>README_compressed.txt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20587716" y="26639520"/>
            <a:ext cx="2779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B5E20"/>
                </a:solidFill>
                <a:latin typeface="Calibri"/>
              </a:rPr>
              <a:t>0.51 MB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23669244" y="26054304"/>
            <a:ext cx="1645920" cy="12801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23669244" y="26100024"/>
            <a:ext cx="16459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CA00"/>
                </a:solidFill>
                <a:latin typeface="Calibri"/>
              </a:rPr>
              <a:t>−79%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23669244" y="26796796"/>
            <a:ext cx="1645920" cy="486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saved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25498044" y="26374344"/>
            <a:ext cx="3977640" cy="38404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25498044" y="26374344"/>
            <a:ext cx="3142335" cy="38404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25498044" y="25898856"/>
            <a:ext cx="3977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47A1"/>
                </a:solidFill>
                <a:latin typeface="Calibri"/>
              </a:rPr>
              <a:t>79%  compressed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25498044" y="26813256"/>
            <a:ext cx="3977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757575"/>
                </a:solidFill>
                <a:latin typeface="Calibri"/>
              </a:rPr>
              <a:t>0%                                                            100%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15531084" y="29596080"/>
            <a:ext cx="14040612" cy="562051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15393924" y="31811976"/>
            <a:ext cx="1188720" cy="118872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15393924" y="31811976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PDF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6582644" y="31263336"/>
            <a:ext cx="2926080" cy="228600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6655796" y="31336488"/>
            <a:ext cx="27797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D47A1"/>
                </a:solidFill>
                <a:latin typeface="Calibri"/>
              </a:rPr>
              <a:t>report.pdf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6655796" y="31793688"/>
            <a:ext cx="277977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D47A1"/>
                </a:solidFill>
                <a:latin typeface="Calibri"/>
              </a:rPr>
              <a:t>4.80 MB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16719804" y="32470344"/>
            <a:ext cx="2121408" cy="10058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16719804" y="32689800"/>
            <a:ext cx="1803196" cy="10058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16719804" y="32909256"/>
            <a:ext cx="1484985" cy="10058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16719804" y="33128712"/>
            <a:ext cx="1166774" cy="10058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19645884" y="31857696"/>
            <a:ext cx="731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CA00"/>
                </a:solidFill>
                <a:latin typeface="Calibri"/>
              </a:rPr>
              <a:t>▶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20514564" y="31857696"/>
            <a:ext cx="2926080" cy="109728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20587716" y="31930848"/>
            <a:ext cx="277977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5E20"/>
                </a:solidFill>
                <a:latin typeface="Calibri"/>
              </a:rPr>
              <a:t>report_compressed.pdf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20587716" y="32351472"/>
            <a:ext cx="2779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B5E20"/>
                </a:solidFill>
                <a:latin typeface="Calibri"/>
              </a:rPr>
              <a:t>1.67 MB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23669244" y="31766256"/>
            <a:ext cx="1645920" cy="12801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23669244" y="31811976"/>
            <a:ext cx="16459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CA00"/>
                </a:solidFill>
                <a:latin typeface="Calibri"/>
              </a:rPr>
              <a:t>−65%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23669244" y="32508748"/>
            <a:ext cx="1645920" cy="486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saved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25498044" y="32086296"/>
            <a:ext cx="3977640" cy="38404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25498044" y="32086296"/>
            <a:ext cx="2585466" cy="38404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25498044" y="31610808"/>
            <a:ext cx="3977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47A1"/>
                </a:solidFill>
                <a:latin typeface="Calibri"/>
              </a:rPr>
              <a:t>65%  compressed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25498044" y="32525208"/>
            <a:ext cx="3977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757575"/>
                </a:solidFill>
                <a:latin typeface="Calibri"/>
              </a:rPr>
              <a:t>0%                                                            100%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5531084" y="35308032"/>
            <a:ext cx="14040612" cy="562051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15393924" y="37523928"/>
            <a:ext cx="1188720" cy="11887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15393924" y="37523928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IMG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6582644" y="36975288"/>
            <a:ext cx="2926080" cy="228600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16655796" y="37048440"/>
            <a:ext cx="27797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D47A1"/>
                </a:solidFill>
                <a:latin typeface="Calibri"/>
              </a:rPr>
              <a:t>photo.png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6655796" y="37505640"/>
            <a:ext cx="277977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D47A1"/>
                </a:solidFill>
                <a:latin typeface="Calibri"/>
              </a:rPr>
              <a:t>3.20 MB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16719804" y="38182296"/>
            <a:ext cx="2121408" cy="10058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16719804" y="38401752"/>
            <a:ext cx="1803196" cy="10058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16719804" y="38621208"/>
            <a:ext cx="1484985" cy="10058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16719804" y="38840664"/>
            <a:ext cx="1166774" cy="10058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19645884" y="37569648"/>
            <a:ext cx="731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CA00"/>
                </a:solidFill>
                <a:latin typeface="Calibri"/>
              </a:rPr>
              <a:t>▶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20514564" y="37569648"/>
            <a:ext cx="2926080" cy="109728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20587716" y="37642800"/>
            <a:ext cx="277977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5E20"/>
                </a:solidFill>
                <a:latin typeface="Calibri"/>
              </a:rPr>
              <a:t>photo_compressed.png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20587716" y="38063424"/>
            <a:ext cx="2779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B5E20"/>
                </a:solidFill>
                <a:latin typeface="Calibri"/>
              </a:rPr>
              <a:t>0.72 MB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23669244" y="37478208"/>
            <a:ext cx="1645920" cy="12801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23669244" y="37523928"/>
            <a:ext cx="16459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CA00"/>
                </a:solidFill>
                <a:latin typeface="Calibri"/>
              </a:rPr>
              <a:t>−77%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23669244" y="38220700"/>
            <a:ext cx="1645920" cy="486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saved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25498044" y="37798248"/>
            <a:ext cx="3977640" cy="38404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25498044" y="37798248"/>
            <a:ext cx="3062782" cy="38404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25498044" y="37322760"/>
            <a:ext cx="3977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47A1"/>
                </a:solidFill>
                <a:latin typeface="Calibri"/>
              </a:rPr>
              <a:t>77%  compressed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25498044" y="38237160"/>
            <a:ext cx="3977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757575"/>
                </a:solidFill>
                <a:latin typeface="Calibri"/>
              </a:rPr>
              <a:t>0%                                                            100%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0" y="41614344"/>
            <a:ext cx="30275784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0" y="41614344"/>
            <a:ext cx="30275784" cy="91440"/>
          </a:xfrm>
          <a:prstGeom prst="rect">
            <a:avLst/>
          </a:prstGeom>
          <a:solidFill>
            <a:srgbClr val="FFC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0" y="41705784"/>
            <a:ext cx="30275784" cy="5486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502920" y="41742360"/>
            <a:ext cx="292699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100" b="0" i="0">
                <a:solidFill>
                  <a:srgbClr val="FFFFFF"/>
                </a:solidFill>
                <a:latin typeface="Calibri"/>
              </a:rPr>
              <a:t>DocCompressor  ·  BS Robotics &amp; Artificial Intelligence  ·  Mubashar Ali  |  Momina Ali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502920" y="42272712"/>
            <a:ext cx="2926994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BBDEFB"/>
                </a:solidFill>
                <a:latin typeface="Calibri"/>
              </a:rPr>
              <a:t>Programming Fundamentals (PF)   ·   Instructor: Ms Eisha Nawaz   ·   ©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